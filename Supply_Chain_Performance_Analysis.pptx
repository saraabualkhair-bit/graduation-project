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60" r:id="rId12"/>
    <p:sldId id="261" r:id="rId13"/>
    <p:sldId id="263" r:id="rId14"/>
    <p:sldId id="264" r:id="rId15"/>
    <p:sldId id="265" r:id="rId16"/>
    <p:sldId id="266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4" Type="http://schemas.openxmlformats.org/officeDocument/2006/relationships/image" Target="../media/image2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FA289E-3336-4FC4-B865-A900D981A239}" type="doc">
      <dgm:prSet loTypeId="urn:microsoft.com/office/officeart/2005/8/layout/target3" loCatId="relationship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A8E814E-513F-4DE5-BDF7-F6F36321E5D2}">
      <dgm:prSet/>
      <dgm:spPr/>
      <dgm:t>
        <a:bodyPr/>
        <a:lstStyle/>
        <a:p>
          <a:r>
            <a:rPr lang="en-US"/>
            <a:t>Handled missing values</a:t>
          </a:r>
        </a:p>
      </dgm:t>
    </dgm:pt>
    <dgm:pt modelId="{250805CF-12AD-4D23-AB7D-EB3324B5564D}" type="parTrans" cxnId="{0B0F5F7F-F9BE-482D-91B3-A686C3EB7C00}">
      <dgm:prSet/>
      <dgm:spPr/>
      <dgm:t>
        <a:bodyPr/>
        <a:lstStyle/>
        <a:p>
          <a:endParaRPr lang="en-US"/>
        </a:p>
      </dgm:t>
    </dgm:pt>
    <dgm:pt modelId="{0CF9882E-867F-4006-AD42-41E89039FA9E}" type="sibTrans" cxnId="{0B0F5F7F-F9BE-482D-91B3-A686C3EB7C00}">
      <dgm:prSet/>
      <dgm:spPr/>
      <dgm:t>
        <a:bodyPr/>
        <a:lstStyle/>
        <a:p>
          <a:endParaRPr lang="en-US"/>
        </a:p>
      </dgm:t>
    </dgm:pt>
    <dgm:pt modelId="{1721E0C7-984E-428D-A130-FCF46CCD9EE4}">
      <dgm:prSet/>
      <dgm:spPr/>
      <dgm:t>
        <a:bodyPr/>
        <a:lstStyle/>
        <a:p>
          <a:r>
            <a:rPr lang="en-US"/>
            <a:t>Removed duplicates</a:t>
          </a:r>
        </a:p>
      </dgm:t>
    </dgm:pt>
    <dgm:pt modelId="{CE6131F8-2CAC-461A-8905-207A6E47F47D}" type="parTrans" cxnId="{1B18776D-22FA-4E2E-8EE2-36A09E1A3D4A}">
      <dgm:prSet/>
      <dgm:spPr/>
      <dgm:t>
        <a:bodyPr/>
        <a:lstStyle/>
        <a:p>
          <a:endParaRPr lang="en-US"/>
        </a:p>
      </dgm:t>
    </dgm:pt>
    <dgm:pt modelId="{7377E49D-2474-4638-9ED0-CE3B8E3F1706}" type="sibTrans" cxnId="{1B18776D-22FA-4E2E-8EE2-36A09E1A3D4A}">
      <dgm:prSet/>
      <dgm:spPr/>
      <dgm:t>
        <a:bodyPr/>
        <a:lstStyle/>
        <a:p>
          <a:endParaRPr lang="en-US"/>
        </a:p>
      </dgm:t>
    </dgm:pt>
    <dgm:pt modelId="{07807F31-DDC2-41F0-9254-37E119877433}">
      <dgm:prSet/>
      <dgm:spPr/>
      <dgm:t>
        <a:bodyPr/>
        <a:lstStyle/>
        <a:p>
          <a:r>
            <a:rPr lang="en-US"/>
            <a:t>Fixed inconsistent date formats</a:t>
          </a:r>
        </a:p>
      </dgm:t>
    </dgm:pt>
    <dgm:pt modelId="{5F5E24C2-C44A-4567-A8E7-EC20232A0E06}" type="parTrans" cxnId="{6D3C532F-92AF-436C-9E19-6A2E7704A74C}">
      <dgm:prSet/>
      <dgm:spPr/>
      <dgm:t>
        <a:bodyPr/>
        <a:lstStyle/>
        <a:p>
          <a:endParaRPr lang="en-US"/>
        </a:p>
      </dgm:t>
    </dgm:pt>
    <dgm:pt modelId="{9323B708-8AC1-4FE9-BA22-FCFAC8990961}" type="sibTrans" cxnId="{6D3C532F-92AF-436C-9E19-6A2E7704A74C}">
      <dgm:prSet/>
      <dgm:spPr/>
      <dgm:t>
        <a:bodyPr/>
        <a:lstStyle/>
        <a:p>
          <a:endParaRPr lang="en-US"/>
        </a:p>
      </dgm:t>
    </dgm:pt>
    <dgm:pt modelId="{4AC52A90-D497-4CA9-98BB-0C22D5FBAEF4}">
      <dgm:prSet/>
      <dgm:spPr/>
      <dgm:t>
        <a:bodyPr/>
        <a:lstStyle/>
        <a:p>
          <a:r>
            <a:rPr lang="en-US"/>
            <a:t>Standardized columns</a:t>
          </a:r>
        </a:p>
      </dgm:t>
    </dgm:pt>
    <dgm:pt modelId="{73591ACE-7690-40AD-8CEF-66C16A741DDA}" type="parTrans" cxnId="{5746B6AF-A2E1-412F-9E82-FB4EA179E18F}">
      <dgm:prSet/>
      <dgm:spPr/>
      <dgm:t>
        <a:bodyPr/>
        <a:lstStyle/>
        <a:p>
          <a:endParaRPr lang="en-US"/>
        </a:p>
      </dgm:t>
    </dgm:pt>
    <dgm:pt modelId="{03A6BE99-1479-4E57-8171-4F66E4A58FAD}" type="sibTrans" cxnId="{5746B6AF-A2E1-412F-9E82-FB4EA179E18F}">
      <dgm:prSet/>
      <dgm:spPr/>
      <dgm:t>
        <a:bodyPr/>
        <a:lstStyle/>
        <a:p>
          <a:endParaRPr lang="en-US"/>
        </a:p>
      </dgm:t>
    </dgm:pt>
    <dgm:pt modelId="{002B6D9D-BF52-46CD-943C-F4BCCE5652D2}">
      <dgm:prSet/>
      <dgm:spPr/>
      <dgm:t>
        <a:bodyPr/>
        <a:lstStyle/>
        <a:p>
          <a:r>
            <a:rPr lang="en-US"/>
            <a:t>Prepared data for visualization and analysis</a:t>
          </a:r>
        </a:p>
      </dgm:t>
    </dgm:pt>
    <dgm:pt modelId="{44878866-8AF1-4CB8-BB28-02AB1CFFC702}" type="parTrans" cxnId="{176C7B82-12CF-43D8-80AA-3EC843C791F8}">
      <dgm:prSet/>
      <dgm:spPr/>
      <dgm:t>
        <a:bodyPr/>
        <a:lstStyle/>
        <a:p>
          <a:endParaRPr lang="en-US"/>
        </a:p>
      </dgm:t>
    </dgm:pt>
    <dgm:pt modelId="{B0C6EF17-1A9A-4394-BADD-E18D2046D56A}" type="sibTrans" cxnId="{176C7B82-12CF-43D8-80AA-3EC843C791F8}">
      <dgm:prSet/>
      <dgm:spPr/>
      <dgm:t>
        <a:bodyPr/>
        <a:lstStyle/>
        <a:p>
          <a:endParaRPr lang="en-US"/>
        </a:p>
      </dgm:t>
    </dgm:pt>
    <dgm:pt modelId="{05A32AB4-749C-46D6-8CA3-A0D5C0687F78}" type="pres">
      <dgm:prSet presAssocID="{35FA289E-3336-4FC4-B865-A900D981A239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29BA30B6-BEB1-4019-9097-291079112949}" type="pres">
      <dgm:prSet presAssocID="{5A8E814E-513F-4DE5-BDF7-F6F36321E5D2}" presName="circle1" presStyleLbl="node1" presStyleIdx="0" presStyleCnt="5"/>
      <dgm:spPr/>
    </dgm:pt>
    <dgm:pt modelId="{62467D77-9BDA-484D-B1A0-904BD79C8859}" type="pres">
      <dgm:prSet presAssocID="{5A8E814E-513F-4DE5-BDF7-F6F36321E5D2}" presName="space" presStyleCnt="0"/>
      <dgm:spPr/>
    </dgm:pt>
    <dgm:pt modelId="{FB95881B-FF45-425A-8F37-11F38953C7FC}" type="pres">
      <dgm:prSet presAssocID="{5A8E814E-513F-4DE5-BDF7-F6F36321E5D2}" presName="rect1" presStyleLbl="alignAcc1" presStyleIdx="0" presStyleCnt="5"/>
      <dgm:spPr/>
    </dgm:pt>
    <dgm:pt modelId="{808D4D96-6291-42AF-9358-45BF1D320FD7}" type="pres">
      <dgm:prSet presAssocID="{1721E0C7-984E-428D-A130-FCF46CCD9EE4}" presName="vertSpace2" presStyleLbl="node1" presStyleIdx="0" presStyleCnt="5"/>
      <dgm:spPr/>
    </dgm:pt>
    <dgm:pt modelId="{718FB6AC-9C19-48D2-A547-46634862E3C3}" type="pres">
      <dgm:prSet presAssocID="{1721E0C7-984E-428D-A130-FCF46CCD9EE4}" presName="circle2" presStyleLbl="node1" presStyleIdx="1" presStyleCnt="5"/>
      <dgm:spPr/>
    </dgm:pt>
    <dgm:pt modelId="{4AA0AF61-4065-494D-9843-A6E2F4E58AD1}" type="pres">
      <dgm:prSet presAssocID="{1721E0C7-984E-428D-A130-FCF46CCD9EE4}" presName="rect2" presStyleLbl="alignAcc1" presStyleIdx="1" presStyleCnt="5"/>
      <dgm:spPr/>
    </dgm:pt>
    <dgm:pt modelId="{593CA418-4F57-45B5-AD27-6856199B5215}" type="pres">
      <dgm:prSet presAssocID="{07807F31-DDC2-41F0-9254-37E119877433}" presName="vertSpace3" presStyleLbl="node1" presStyleIdx="1" presStyleCnt="5"/>
      <dgm:spPr/>
    </dgm:pt>
    <dgm:pt modelId="{06AF53CB-AC94-431D-98B4-347EB93B9FB8}" type="pres">
      <dgm:prSet presAssocID="{07807F31-DDC2-41F0-9254-37E119877433}" presName="circle3" presStyleLbl="node1" presStyleIdx="2" presStyleCnt="5"/>
      <dgm:spPr/>
    </dgm:pt>
    <dgm:pt modelId="{3D059F4A-6581-4F6A-AB06-33374F7CB79E}" type="pres">
      <dgm:prSet presAssocID="{07807F31-DDC2-41F0-9254-37E119877433}" presName="rect3" presStyleLbl="alignAcc1" presStyleIdx="2" presStyleCnt="5"/>
      <dgm:spPr/>
    </dgm:pt>
    <dgm:pt modelId="{A8F56FE5-BFB8-44BA-B37D-3F5C33C990BC}" type="pres">
      <dgm:prSet presAssocID="{4AC52A90-D497-4CA9-98BB-0C22D5FBAEF4}" presName="vertSpace4" presStyleLbl="node1" presStyleIdx="2" presStyleCnt="5"/>
      <dgm:spPr/>
    </dgm:pt>
    <dgm:pt modelId="{E785A981-D466-48EA-B3C1-01D73343BBFF}" type="pres">
      <dgm:prSet presAssocID="{4AC52A90-D497-4CA9-98BB-0C22D5FBAEF4}" presName="circle4" presStyleLbl="node1" presStyleIdx="3" presStyleCnt="5"/>
      <dgm:spPr/>
    </dgm:pt>
    <dgm:pt modelId="{F898AC83-350D-4FD8-A41B-298C68D65152}" type="pres">
      <dgm:prSet presAssocID="{4AC52A90-D497-4CA9-98BB-0C22D5FBAEF4}" presName="rect4" presStyleLbl="alignAcc1" presStyleIdx="3" presStyleCnt="5"/>
      <dgm:spPr/>
    </dgm:pt>
    <dgm:pt modelId="{538BA5A2-3CAB-4BE1-90D5-E447426DF4D9}" type="pres">
      <dgm:prSet presAssocID="{002B6D9D-BF52-46CD-943C-F4BCCE5652D2}" presName="vertSpace5" presStyleLbl="node1" presStyleIdx="3" presStyleCnt="5"/>
      <dgm:spPr/>
    </dgm:pt>
    <dgm:pt modelId="{5B8EF961-315F-4450-B6DC-51A0208BFBD9}" type="pres">
      <dgm:prSet presAssocID="{002B6D9D-BF52-46CD-943C-F4BCCE5652D2}" presName="circle5" presStyleLbl="node1" presStyleIdx="4" presStyleCnt="5"/>
      <dgm:spPr/>
    </dgm:pt>
    <dgm:pt modelId="{1C709BEB-A998-4678-A422-31BA4CA5165C}" type="pres">
      <dgm:prSet presAssocID="{002B6D9D-BF52-46CD-943C-F4BCCE5652D2}" presName="rect5" presStyleLbl="alignAcc1" presStyleIdx="4" presStyleCnt="5"/>
      <dgm:spPr/>
    </dgm:pt>
    <dgm:pt modelId="{8AF506FF-FB71-4583-BF4B-FB1DBB5C2AB5}" type="pres">
      <dgm:prSet presAssocID="{5A8E814E-513F-4DE5-BDF7-F6F36321E5D2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ADEA49AC-DB72-4916-87D5-732CA405D2A0}" type="pres">
      <dgm:prSet presAssocID="{1721E0C7-984E-428D-A130-FCF46CCD9EE4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5D1A66AD-91E5-4241-820F-00285FB8641D}" type="pres">
      <dgm:prSet presAssocID="{07807F31-DDC2-41F0-9254-37E119877433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3E6C1A9D-1D01-46A5-BABC-1E8DE2DD74C7}" type="pres">
      <dgm:prSet presAssocID="{4AC52A90-D497-4CA9-98BB-0C22D5FBAEF4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D7DE1665-AC7A-4D05-91D7-EC6C3D9AAFCC}" type="pres">
      <dgm:prSet presAssocID="{002B6D9D-BF52-46CD-943C-F4BCCE5652D2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F031C90F-19C1-4AF9-863C-8FD5F30C4D66}" type="presOf" srcId="{4AC52A90-D497-4CA9-98BB-0C22D5FBAEF4}" destId="{F898AC83-350D-4FD8-A41B-298C68D65152}" srcOrd="0" destOrd="0" presId="urn:microsoft.com/office/officeart/2005/8/layout/target3"/>
    <dgm:cxn modelId="{1B3CC613-B02C-4C7C-85F7-2AA679E34F78}" type="presOf" srcId="{002B6D9D-BF52-46CD-943C-F4BCCE5652D2}" destId="{1C709BEB-A998-4678-A422-31BA4CA5165C}" srcOrd="0" destOrd="0" presId="urn:microsoft.com/office/officeart/2005/8/layout/target3"/>
    <dgm:cxn modelId="{6D3C532F-92AF-436C-9E19-6A2E7704A74C}" srcId="{35FA289E-3336-4FC4-B865-A900D981A239}" destId="{07807F31-DDC2-41F0-9254-37E119877433}" srcOrd="2" destOrd="0" parTransId="{5F5E24C2-C44A-4567-A8E7-EC20232A0E06}" sibTransId="{9323B708-8AC1-4FE9-BA22-FCFAC8990961}"/>
    <dgm:cxn modelId="{FB327B33-4DC4-4019-855C-A9058AB9E293}" type="presOf" srcId="{35FA289E-3336-4FC4-B865-A900D981A239}" destId="{05A32AB4-749C-46D6-8CA3-A0D5C0687F78}" srcOrd="0" destOrd="0" presId="urn:microsoft.com/office/officeart/2005/8/layout/target3"/>
    <dgm:cxn modelId="{94D98538-773D-4C99-BF07-7594E0405A40}" type="presOf" srcId="{5A8E814E-513F-4DE5-BDF7-F6F36321E5D2}" destId="{FB95881B-FF45-425A-8F37-11F38953C7FC}" srcOrd="0" destOrd="0" presId="urn:microsoft.com/office/officeart/2005/8/layout/target3"/>
    <dgm:cxn modelId="{75182A40-9CC6-42C6-AC35-552C96477431}" type="presOf" srcId="{5A8E814E-513F-4DE5-BDF7-F6F36321E5D2}" destId="{8AF506FF-FB71-4583-BF4B-FB1DBB5C2AB5}" srcOrd="1" destOrd="0" presId="urn:microsoft.com/office/officeart/2005/8/layout/target3"/>
    <dgm:cxn modelId="{ADA73A41-AAB7-416C-A2C2-C160BD760680}" type="presOf" srcId="{4AC52A90-D497-4CA9-98BB-0C22D5FBAEF4}" destId="{3E6C1A9D-1D01-46A5-BABC-1E8DE2DD74C7}" srcOrd="1" destOrd="0" presId="urn:microsoft.com/office/officeart/2005/8/layout/target3"/>
    <dgm:cxn modelId="{1B18776D-22FA-4E2E-8EE2-36A09E1A3D4A}" srcId="{35FA289E-3336-4FC4-B865-A900D981A239}" destId="{1721E0C7-984E-428D-A130-FCF46CCD9EE4}" srcOrd="1" destOrd="0" parTransId="{CE6131F8-2CAC-461A-8905-207A6E47F47D}" sibTransId="{7377E49D-2474-4638-9ED0-CE3B8E3F1706}"/>
    <dgm:cxn modelId="{0B0F5F7F-F9BE-482D-91B3-A686C3EB7C00}" srcId="{35FA289E-3336-4FC4-B865-A900D981A239}" destId="{5A8E814E-513F-4DE5-BDF7-F6F36321E5D2}" srcOrd="0" destOrd="0" parTransId="{250805CF-12AD-4D23-AB7D-EB3324B5564D}" sibTransId="{0CF9882E-867F-4006-AD42-41E89039FA9E}"/>
    <dgm:cxn modelId="{176C7B82-12CF-43D8-80AA-3EC843C791F8}" srcId="{35FA289E-3336-4FC4-B865-A900D981A239}" destId="{002B6D9D-BF52-46CD-943C-F4BCCE5652D2}" srcOrd="4" destOrd="0" parTransId="{44878866-8AF1-4CB8-BB28-02AB1CFFC702}" sibTransId="{B0C6EF17-1A9A-4394-BADD-E18D2046D56A}"/>
    <dgm:cxn modelId="{5746B6AF-A2E1-412F-9E82-FB4EA179E18F}" srcId="{35FA289E-3336-4FC4-B865-A900D981A239}" destId="{4AC52A90-D497-4CA9-98BB-0C22D5FBAEF4}" srcOrd="3" destOrd="0" parTransId="{73591ACE-7690-40AD-8CEF-66C16A741DDA}" sibTransId="{03A6BE99-1479-4E57-8171-4F66E4A58FAD}"/>
    <dgm:cxn modelId="{23BF10D4-DFF6-4DD1-BCCA-7DFA3CFE469C}" type="presOf" srcId="{1721E0C7-984E-428D-A130-FCF46CCD9EE4}" destId="{ADEA49AC-DB72-4916-87D5-732CA405D2A0}" srcOrd="1" destOrd="0" presId="urn:microsoft.com/office/officeart/2005/8/layout/target3"/>
    <dgm:cxn modelId="{8EAFBADA-2B4A-4D8D-9129-E04E0225281A}" type="presOf" srcId="{07807F31-DDC2-41F0-9254-37E119877433}" destId="{5D1A66AD-91E5-4241-820F-00285FB8641D}" srcOrd="1" destOrd="0" presId="urn:microsoft.com/office/officeart/2005/8/layout/target3"/>
    <dgm:cxn modelId="{CFEDADE9-B4E0-473A-A4EF-B14B2E5016B5}" type="presOf" srcId="{002B6D9D-BF52-46CD-943C-F4BCCE5652D2}" destId="{D7DE1665-AC7A-4D05-91D7-EC6C3D9AAFCC}" srcOrd="1" destOrd="0" presId="urn:microsoft.com/office/officeart/2005/8/layout/target3"/>
    <dgm:cxn modelId="{B39F7FF7-76BC-4C57-978D-778D3FCE5DA9}" type="presOf" srcId="{1721E0C7-984E-428D-A130-FCF46CCD9EE4}" destId="{4AA0AF61-4065-494D-9843-A6E2F4E58AD1}" srcOrd="0" destOrd="0" presId="urn:microsoft.com/office/officeart/2005/8/layout/target3"/>
    <dgm:cxn modelId="{097E5EF8-229E-4A53-B6AB-33F44E4C53B7}" type="presOf" srcId="{07807F31-DDC2-41F0-9254-37E119877433}" destId="{3D059F4A-6581-4F6A-AB06-33374F7CB79E}" srcOrd="0" destOrd="0" presId="urn:microsoft.com/office/officeart/2005/8/layout/target3"/>
    <dgm:cxn modelId="{BF9837C3-C2EE-446C-AA98-6664ABAB6369}" type="presParOf" srcId="{05A32AB4-749C-46D6-8CA3-A0D5C0687F78}" destId="{29BA30B6-BEB1-4019-9097-291079112949}" srcOrd="0" destOrd="0" presId="urn:microsoft.com/office/officeart/2005/8/layout/target3"/>
    <dgm:cxn modelId="{954F50C9-B2C3-4B58-8CE4-65E1979586E1}" type="presParOf" srcId="{05A32AB4-749C-46D6-8CA3-A0D5C0687F78}" destId="{62467D77-9BDA-484D-B1A0-904BD79C8859}" srcOrd="1" destOrd="0" presId="urn:microsoft.com/office/officeart/2005/8/layout/target3"/>
    <dgm:cxn modelId="{3761025C-9634-4D19-B886-F85EB61C5638}" type="presParOf" srcId="{05A32AB4-749C-46D6-8CA3-A0D5C0687F78}" destId="{FB95881B-FF45-425A-8F37-11F38953C7FC}" srcOrd="2" destOrd="0" presId="urn:microsoft.com/office/officeart/2005/8/layout/target3"/>
    <dgm:cxn modelId="{56EA56A5-1377-4191-A612-8880365BB4BA}" type="presParOf" srcId="{05A32AB4-749C-46D6-8CA3-A0D5C0687F78}" destId="{808D4D96-6291-42AF-9358-45BF1D320FD7}" srcOrd="3" destOrd="0" presId="urn:microsoft.com/office/officeart/2005/8/layout/target3"/>
    <dgm:cxn modelId="{B4154E36-E9C7-4C2E-9859-F5EC77157F6C}" type="presParOf" srcId="{05A32AB4-749C-46D6-8CA3-A0D5C0687F78}" destId="{718FB6AC-9C19-48D2-A547-46634862E3C3}" srcOrd="4" destOrd="0" presId="urn:microsoft.com/office/officeart/2005/8/layout/target3"/>
    <dgm:cxn modelId="{69AB9A28-72DE-40B7-A71D-26B3F412343E}" type="presParOf" srcId="{05A32AB4-749C-46D6-8CA3-A0D5C0687F78}" destId="{4AA0AF61-4065-494D-9843-A6E2F4E58AD1}" srcOrd="5" destOrd="0" presId="urn:microsoft.com/office/officeart/2005/8/layout/target3"/>
    <dgm:cxn modelId="{0B5941A7-913C-41F4-BE44-187C10BC2809}" type="presParOf" srcId="{05A32AB4-749C-46D6-8CA3-A0D5C0687F78}" destId="{593CA418-4F57-45B5-AD27-6856199B5215}" srcOrd="6" destOrd="0" presId="urn:microsoft.com/office/officeart/2005/8/layout/target3"/>
    <dgm:cxn modelId="{9E8CAA25-7C71-429B-8502-EE3406C55FA3}" type="presParOf" srcId="{05A32AB4-749C-46D6-8CA3-A0D5C0687F78}" destId="{06AF53CB-AC94-431D-98B4-347EB93B9FB8}" srcOrd="7" destOrd="0" presId="urn:microsoft.com/office/officeart/2005/8/layout/target3"/>
    <dgm:cxn modelId="{D3CB3F1D-C506-49A8-9EB6-080619EE17DE}" type="presParOf" srcId="{05A32AB4-749C-46D6-8CA3-A0D5C0687F78}" destId="{3D059F4A-6581-4F6A-AB06-33374F7CB79E}" srcOrd="8" destOrd="0" presId="urn:microsoft.com/office/officeart/2005/8/layout/target3"/>
    <dgm:cxn modelId="{B3D726E4-929E-44AF-B151-E70612269FD5}" type="presParOf" srcId="{05A32AB4-749C-46D6-8CA3-A0D5C0687F78}" destId="{A8F56FE5-BFB8-44BA-B37D-3F5C33C990BC}" srcOrd="9" destOrd="0" presId="urn:microsoft.com/office/officeart/2005/8/layout/target3"/>
    <dgm:cxn modelId="{47B5D7CC-E82B-448F-91EF-47C137D14EF3}" type="presParOf" srcId="{05A32AB4-749C-46D6-8CA3-A0D5C0687F78}" destId="{E785A981-D466-48EA-B3C1-01D73343BBFF}" srcOrd="10" destOrd="0" presId="urn:microsoft.com/office/officeart/2005/8/layout/target3"/>
    <dgm:cxn modelId="{1A313AA6-2FE9-47C3-8CDA-04434160FB77}" type="presParOf" srcId="{05A32AB4-749C-46D6-8CA3-A0D5C0687F78}" destId="{F898AC83-350D-4FD8-A41B-298C68D65152}" srcOrd="11" destOrd="0" presId="urn:microsoft.com/office/officeart/2005/8/layout/target3"/>
    <dgm:cxn modelId="{0F62FA01-FBE8-4DDD-BB10-5FF79C9081CA}" type="presParOf" srcId="{05A32AB4-749C-46D6-8CA3-A0D5C0687F78}" destId="{538BA5A2-3CAB-4BE1-90D5-E447426DF4D9}" srcOrd="12" destOrd="0" presId="urn:microsoft.com/office/officeart/2005/8/layout/target3"/>
    <dgm:cxn modelId="{BE544F74-69EE-42DC-BCF4-DE24C30927B8}" type="presParOf" srcId="{05A32AB4-749C-46D6-8CA3-A0D5C0687F78}" destId="{5B8EF961-315F-4450-B6DC-51A0208BFBD9}" srcOrd="13" destOrd="0" presId="urn:microsoft.com/office/officeart/2005/8/layout/target3"/>
    <dgm:cxn modelId="{D8241C08-6136-4600-ACD3-F56477BACA8B}" type="presParOf" srcId="{05A32AB4-749C-46D6-8CA3-A0D5C0687F78}" destId="{1C709BEB-A998-4678-A422-31BA4CA5165C}" srcOrd="14" destOrd="0" presId="urn:microsoft.com/office/officeart/2005/8/layout/target3"/>
    <dgm:cxn modelId="{0AB976CC-244B-4B18-945E-E6469567B876}" type="presParOf" srcId="{05A32AB4-749C-46D6-8CA3-A0D5C0687F78}" destId="{8AF506FF-FB71-4583-BF4B-FB1DBB5C2AB5}" srcOrd="15" destOrd="0" presId="urn:microsoft.com/office/officeart/2005/8/layout/target3"/>
    <dgm:cxn modelId="{113C4910-CEB8-46D4-B3B3-071C1F2182CE}" type="presParOf" srcId="{05A32AB4-749C-46D6-8CA3-A0D5C0687F78}" destId="{ADEA49AC-DB72-4916-87D5-732CA405D2A0}" srcOrd="16" destOrd="0" presId="urn:microsoft.com/office/officeart/2005/8/layout/target3"/>
    <dgm:cxn modelId="{1174FFDA-BBFB-4886-86AA-15D1B1DB1FC2}" type="presParOf" srcId="{05A32AB4-749C-46D6-8CA3-A0D5C0687F78}" destId="{5D1A66AD-91E5-4241-820F-00285FB8641D}" srcOrd="17" destOrd="0" presId="urn:microsoft.com/office/officeart/2005/8/layout/target3"/>
    <dgm:cxn modelId="{4C51BF97-972A-4CC8-844F-2060ACC126F7}" type="presParOf" srcId="{05A32AB4-749C-46D6-8CA3-A0D5C0687F78}" destId="{3E6C1A9D-1D01-46A5-BABC-1E8DE2DD74C7}" srcOrd="18" destOrd="0" presId="urn:microsoft.com/office/officeart/2005/8/layout/target3"/>
    <dgm:cxn modelId="{682C279D-C221-48A7-BCC7-AD8A3B6D08DB}" type="presParOf" srcId="{05A32AB4-749C-46D6-8CA3-A0D5C0687F78}" destId="{D7DE1665-AC7A-4D05-91D7-EC6C3D9AAFCC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C2C26E-9A9E-4949-B939-D748940224DA}" type="doc">
      <dgm:prSet loTypeId="urn:microsoft.com/office/officeart/2005/8/layout/vList2" loCatId="list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4B268B7E-A0B4-4B6A-BD62-03645B95D06D}">
      <dgm:prSet/>
      <dgm:spPr/>
      <dgm:t>
        <a:bodyPr/>
        <a:lstStyle/>
        <a:p>
          <a:r>
            <a:rPr lang="en-US"/>
            <a:t>During the discount analysis, approximately 30 records were identified with extremely high discount rates 95%.</a:t>
          </a:r>
        </a:p>
      </dgm:t>
    </dgm:pt>
    <dgm:pt modelId="{1309B467-1CC5-4C7F-90B8-9C9FD777ABC9}" type="parTrans" cxnId="{0D8E6C8C-EDD0-4DAA-BA25-E8B847019A72}">
      <dgm:prSet/>
      <dgm:spPr/>
      <dgm:t>
        <a:bodyPr/>
        <a:lstStyle/>
        <a:p>
          <a:endParaRPr lang="en-US"/>
        </a:p>
      </dgm:t>
    </dgm:pt>
    <dgm:pt modelId="{6C92DE72-E99D-48D3-806F-975D222BC57E}" type="sibTrans" cxnId="{0D8E6C8C-EDD0-4DAA-BA25-E8B847019A72}">
      <dgm:prSet/>
      <dgm:spPr/>
      <dgm:t>
        <a:bodyPr/>
        <a:lstStyle/>
        <a:p>
          <a:endParaRPr lang="en-US"/>
        </a:p>
      </dgm:t>
    </dgm:pt>
    <dgm:pt modelId="{89B6EAFC-EFF2-4A6C-B2DB-157F5CFBFB09}">
      <dgm:prSet/>
      <dgm:spPr/>
      <dgm:t>
        <a:bodyPr/>
        <a:lstStyle/>
        <a:p>
          <a:r>
            <a:rPr lang="en-US"/>
            <a:t>Further investigation showed that:</a:t>
          </a:r>
        </a:p>
      </dgm:t>
    </dgm:pt>
    <dgm:pt modelId="{48DB2208-AC68-4C87-9FDF-ACD6BB75D1E8}" type="parTrans" cxnId="{655564E5-049D-4637-9691-8EEC6F6EC0FF}">
      <dgm:prSet/>
      <dgm:spPr/>
      <dgm:t>
        <a:bodyPr/>
        <a:lstStyle/>
        <a:p>
          <a:endParaRPr lang="en-US"/>
        </a:p>
      </dgm:t>
    </dgm:pt>
    <dgm:pt modelId="{936C8491-E763-4117-8695-E42A879BB3BD}" type="sibTrans" cxnId="{655564E5-049D-4637-9691-8EEC6F6EC0FF}">
      <dgm:prSet/>
      <dgm:spPr/>
      <dgm:t>
        <a:bodyPr/>
        <a:lstStyle/>
        <a:p>
          <a:endParaRPr lang="en-US"/>
        </a:p>
      </dgm:t>
    </dgm:pt>
    <dgm:pt modelId="{75977D30-2F0E-46D9-A918-2CBF45793F06}">
      <dgm:prSet/>
      <dgm:spPr/>
      <dgm:t>
        <a:bodyPr/>
        <a:lstStyle/>
        <a:p>
          <a:r>
            <a:rPr lang="en-US"/>
            <a:t>All records belonged to the Furniture category </a:t>
          </a:r>
        </a:p>
      </dgm:t>
    </dgm:pt>
    <dgm:pt modelId="{F7914A3D-B434-440A-A6EB-3DA4BF915C4F}" type="parTrans" cxnId="{309112B7-17A9-40A9-B720-F17C8488DFB0}">
      <dgm:prSet/>
      <dgm:spPr/>
      <dgm:t>
        <a:bodyPr/>
        <a:lstStyle/>
        <a:p>
          <a:endParaRPr lang="en-US"/>
        </a:p>
      </dgm:t>
    </dgm:pt>
    <dgm:pt modelId="{363C78C8-762B-4640-9BDE-75A20C80F34C}" type="sibTrans" cxnId="{309112B7-17A9-40A9-B720-F17C8488DFB0}">
      <dgm:prSet/>
      <dgm:spPr/>
      <dgm:t>
        <a:bodyPr/>
        <a:lstStyle/>
        <a:p>
          <a:endParaRPr lang="en-US"/>
        </a:p>
      </dgm:t>
    </dgm:pt>
    <dgm:pt modelId="{2545D35F-4BC4-47AE-AD1E-6410A402803C}">
      <dgm:prSet/>
      <dgm:spPr/>
      <dgm:t>
        <a:bodyPr/>
        <a:lstStyle/>
        <a:p>
          <a:r>
            <a:rPr lang="en-US"/>
            <a:t>All of these orders generated negative profits </a:t>
          </a:r>
        </a:p>
      </dgm:t>
    </dgm:pt>
    <dgm:pt modelId="{C2A2A7FA-180A-4B0B-BDCB-4E55A5EB3115}" type="parTrans" cxnId="{64B54680-AE85-44FF-918A-44C37A6A40F0}">
      <dgm:prSet/>
      <dgm:spPr/>
      <dgm:t>
        <a:bodyPr/>
        <a:lstStyle/>
        <a:p>
          <a:endParaRPr lang="en-US"/>
        </a:p>
      </dgm:t>
    </dgm:pt>
    <dgm:pt modelId="{15025E5F-1B7F-430B-B94C-5E3B18FAF61A}" type="sibTrans" cxnId="{64B54680-AE85-44FF-918A-44C37A6A40F0}">
      <dgm:prSet/>
      <dgm:spPr/>
      <dgm:t>
        <a:bodyPr/>
        <a:lstStyle/>
        <a:p>
          <a:endParaRPr lang="en-US"/>
        </a:p>
      </dgm:t>
    </dgm:pt>
    <dgm:pt modelId="{EB554840-9E5A-4CDC-BCF4-DCB0396751DD}">
      <dgm:prSet/>
      <dgm:spPr/>
      <dgm:t>
        <a:bodyPr/>
        <a:lstStyle/>
        <a:p>
          <a:r>
            <a:rPr lang="en-US"/>
            <a:t>This suggests that the company may have applied aggressive clearance pricing strategies to dispose of old or low-demand inventory.</a:t>
          </a:r>
        </a:p>
      </dgm:t>
    </dgm:pt>
    <dgm:pt modelId="{47FA68C9-4F1E-42B8-8C37-D178141CB5D2}" type="parTrans" cxnId="{D781CFFD-1C20-4C59-B476-69A79C8A7E50}">
      <dgm:prSet/>
      <dgm:spPr/>
      <dgm:t>
        <a:bodyPr/>
        <a:lstStyle/>
        <a:p>
          <a:endParaRPr lang="en-US"/>
        </a:p>
      </dgm:t>
    </dgm:pt>
    <dgm:pt modelId="{32F936CE-DE3B-4966-97E4-EC75BFDFEB0B}" type="sibTrans" cxnId="{D781CFFD-1C20-4C59-B476-69A79C8A7E50}">
      <dgm:prSet/>
      <dgm:spPr/>
      <dgm:t>
        <a:bodyPr/>
        <a:lstStyle/>
        <a:p>
          <a:endParaRPr lang="en-US"/>
        </a:p>
      </dgm:t>
    </dgm:pt>
    <dgm:pt modelId="{F7FD67AB-7334-4690-B8B4-27741D125E58}">
      <dgm:prSet/>
      <dgm:spPr/>
      <dgm:t>
        <a:bodyPr/>
        <a:lstStyle/>
        <a:p>
          <a:r>
            <a:rPr lang="en-US" b="1"/>
            <a:t>Key Insight</a:t>
          </a:r>
          <a:endParaRPr lang="en-US"/>
        </a:p>
      </dgm:t>
    </dgm:pt>
    <dgm:pt modelId="{4CA759E1-53FC-4986-AA99-0AD0BC9D9823}" type="parTrans" cxnId="{F3318C65-1041-4B4F-8383-326BB945C901}">
      <dgm:prSet/>
      <dgm:spPr/>
      <dgm:t>
        <a:bodyPr/>
        <a:lstStyle/>
        <a:p>
          <a:endParaRPr lang="en-US"/>
        </a:p>
      </dgm:t>
    </dgm:pt>
    <dgm:pt modelId="{7EABC48F-58A9-419F-802E-A1F13F6B179E}" type="sibTrans" cxnId="{F3318C65-1041-4B4F-8383-326BB945C901}">
      <dgm:prSet/>
      <dgm:spPr/>
      <dgm:t>
        <a:bodyPr/>
        <a:lstStyle/>
        <a:p>
          <a:endParaRPr lang="en-US"/>
        </a:p>
      </dgm:t>
    </dgm:pt>
    <dgm:pt modelId="{0E0892DA-7103-44BC-99D6-04B972FBA308}">
      <dgm:prSet/>
      <dgm:spPr/>
      <dgm:t>
        <a:bodyPr/>
        <a:lstStyle/>
        <a:p>
          <a:r>
            <a:rPr lang="en-US"/>
            <a:t>Extremely high discounts significantly reduced profitability and were likely used as part of an inventory liquidation strategy rather than normal sales operations.</a:t>
          </a:r>
        </a:p>
      </dgm:t>
    </dgm:pt>
    <dgm:pt modelId="{557FE5C6-B316-4D9B-8B86-6E9465D1B311}" type="parTrans" cxnId="{CC03FF1B-A48B-4AA0-8C1D-27594C88BA40}">
      <dgm:prSet/>
      <dgm:spPr/>
      <dgm:t>
        <a:bodyPr/>
        <a:lstStyle/>
        <a:p>
          <a:endParaRPr lang="en-US"/>
        </a:p>
      </dgm:t>
    </dgm:pt>
    <dgm:pt modelId="{5DE4BAE6-A8AB-40B2-8559-B6B839CAE8CB}" type="sibTrans" cxnId="{CC03FF1B-A48B-4AA0-8C1D-27594C88BA40}">
      <dgm:prSet/>
      <dgm:spPr/>
      <dgm:t>
        <a:bodyPr/>
        <a:lstStyle/>
        <a:p>
          <a:endParaRPr lang="en-US"/>
        </a:p>
      </dgm:t>
    </dgm:pt>
    <dgm:pt modelId="{46E444A3-00C0-406D-B709-14C2C2C805DA}" type="pres">
      <dgm:prSet presAssocID="{3FC2C26E-9A9E-4949-B939-D748940224DA}" presName="linear" presStyleCnt="0">
        <dgm:presLayoutVars>
          <dgm:animLvl val="lvl"/>
          <dgm:resizeHandles val="exact"/>
        </dgm:presLayoutVars>
      </dgm:prSet>
      <dgm:spPr/>
    </dgm:pt>
    <dgm:pt modelId="{0D0EBBA6-AFBB-4374-954C-6F7348D336A8}" type="pres">
      <dgm:prSet presAssocID="{4B268B7E-A0B4-4B6A-BD62-03645B95D06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2F2DB70-B483-448E-BDA5-B28051264B09}" type="pres">
      <dgm:prSet presAssocID="{6C92DE72-E99D-48D3-806F-975D222BC57E}" presName="spacer" presStyleCnt="0"/>
      <dgm:spPr/>
    </dgm:pt>
    <dgm:pt modelId="{E779D004-BD41-4965-8AFB-D074003763D3}" type="pres">
      <dgm:prSet presAssocID="{89B6EAFC-EFF2-4A6C-B2DB-157F5CFBFB0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E46E15F-F0C0-49D8-86D9-16DC74B862AF}" type="pres">
      <dgm:prSet presAssocID="{89B6EAFC-EFF2-4A6C-B2DB-157F5CFBFB09}" presName="childText" presStyleLbl="revTx" presStyleIdx="0" presStyleCnt="2">
        <dgm:presLayoutVars>
          <dgm:bulletEnabled val="1"/>
        </dgm:presLayoutVars>
      </dgm:prSet>
      <dgm:spPr/>
    </dgm:pt>
    <dgm:pt modelId="{B20FBA9D-FB41-4621-AF61-3A055AA584C6}" type="pres">
      <dgm:prSet presAssocID="{F7FD67AB-7334-4690-B8B4-27741D125E5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195ABBD-C2ED-477C-9BF3-916CC287A11A}" type="pres">
      <dgm:prSet presAssocID="{F7FD67AB-7334-4690-B8B4-27741D125E5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C03FF1B-A48B-4AA0-8C1D-27594C88BA40}" srcId="{F7FD67AB-7334-4690-B8B4-27741D125E58}" destId="{0E0892DA-7103-44BC-99D6-04B972FBA308}" srcOrd="0" destOrd="0" parTransId="{557FE5C6-B316-4D9B-8B86-6E9465D1B311}" sibTransId="{5DE4BAE6-A8AB-40B2-8559-B6B839CAE8CB}"/>
    <dgm:cxn modelId="{F3318C65-1041-4B4F-8383-326BB945C901}" srcId="{3FC2C26E-9A9E-4949-B939-D748940224DA}" destId="{F7FD67AB-7334-4690-B8B4-27741D125E58}" srcOrd="2" destOrd="0" parTransId="{4CA759E1-53FC-4986-AA99-0AD0BC9D9823}" sibTransId="{7EABC48F-58A9-419F-802E-A1F13F6B179E}"/>
    <dgm:cxn modelId="{42D6F749-8EA3-44FE-BDA5-B3C3BFF71721}" type="presOf" srcId="{F7FD67AB-7334-4690-B8B4-27741D125E58}" destId="{B20FBA9D-FB41-4621-AF61-3A055AA584C6}" srcOrd="0" destOrd="0" presId="urn:microsoft.com/office/officeart/2005/8/layout/vList2"/>
    <dgm:cxn modelId="{2CA10F6A-25AA-4D8F-B37E-1C9317FF8332}" type="presOf" srcId="{75977D30-2F0E-46D9-A918-2CBF45793F06}" destId="{2E46E15F-F0C0-49D8-86D9-16DC74B862AF}" srcOrd="0" destOrd="0" presId="urn:microsoft.com/office/officeart/2005/8/layout/vList2"/>
    <dgm:cxn modelId="{6041EF6E-6AFA-4A4E-A8F9-04B649CF3368}" type="presOf" srcId="{EB554840-9E5A-4CDC-BCF4-DCB0396751DD}" destId="{2E46E15F-F0C0-49D8-86D9-16DC74B862AF}" srcOrd="0" destOrd="2" presId="urn:microsoft.com/office/officeart/2005/8/layout/vList2"/>
    <dgm:cxn modelId="{EE003E73-9CD0-49E7-AB9F-4FF3EB0D1B4D}" type="presOf" srcId="{89B6EAFC-EFF2-4A6C-B2DB-157F5CFBFB09}" destId="{E779D004-BD41-4965-8AFB-D074003763D3}" srcOrd="0" destOrd="0" presId="urn:microsoft.com/office/officeart/2005/8/layout/vList2"/>
    <dgm:cxn modelId="{B064C17E-5B15-4195-8C1A-AA53523E6FAA}" type="presOf" srcId="{4B268B7E-A0B4-4B6A-BD62-03645B95D06D}" destId="{0D0EBBA6-AFBB-4374-954C-6F7348D336A8}" srcOrd="0" destOrd="0" presId="urn:microsoft.com/office/officeart/2005/8/layout/vList2"/>
    <dgm:cxn modelId="{64B54680-AE85-44FF-918A-44C37A6A40F0}" srcId="{89B6EAFC-EFF2-4A6C-B2DB-157F5CFBFB09}" destId="{2545D35F-4BC4-47AE-AD1E-6410A402803C}" srcOrd="1" destOrd="0" parTransId="{C2A2A7FA-180A-4B0B-BDCB-4E55A5EB3115}" sibTransId="{15025E5F-1B7F-430B-B94C-5E3B18FAF61A}"/>
    <dgm:cxn modelId="{0D8E6C8C-EDD0-4DAA-BA25-E8B847019A72}" srcId="{3FC2C26E-9A9E-4949-B939-D748940224DA}" destId="{4B268B7E-A0B4-4B6A-BD62-03645B95D06D}" srcOrd="0" destOrd="0" parTransId="{1309B467-1CC5-4C7F-90B8-9C9FD777ABC9}" sibTransId="{6C92DE72-E99D-48D3-806F-975D222BC57E}"/>
    <dgm:cxn modelId="{309112B7-17A9-40A9-B720-F17C8488DFB0}" srcId="{89B6EAFC-EFF2-4A6C-B2DB-157F5CFBFB09}" destId="{75977D30-2F0E-46D9-A918-2CBF45793F06}" srcOrd="0" destOrd="0" parTransId="{F7914A3D-B434-440A-A6EB-3DA4BF915C4F}" sibTransId="{363C78C8-762B-4640-9BDE-75A20C80F34C}"/>
    <dgm:cxn modelId="{61A46AC0-A91E-4198-A407-C6C96D190775}" type="presOf" srcId="{3FC2C26E-9A9E-4949-B939-D748940224DA}" destId="{46E444A3-00C0-406D-B709-14C2C2C805DA}" srcOrd="0" destOrd="0" presId="urn:microsoft.com/office/officeart/2005/8/layout/vList2"/>
    <dgm:cxn modelId="{56CE06D2-34D9-4501-B408-296027DB817D}" type="presOf" srcId="{2545D35F-4BC4-47AE-AD1E-6410A402803C}" destId="{2E46E15F-F0C0-49D8-86D9-16DC74B862AF}" srcOrd="0" destOrd="1" presId="urn:microsoft.com/office/officeart/2005/8/layout/vList2"/>
    <dgm:cxn modelId="{655564E5-049D-4637-9691-8EEC6F6EC0FF}" srcId="{3FC2C26E-9A9E-4949-B939-D748940224DA}" destId="{89B6EAFC-EFF2-4A6C-B2DB-157F5CFBFB09}" srcOrd="1" destOrd="0" parTransId="{48DB2208-AC68-4C87-9FDF-ACD6BB75D1E8}" sibTransId="{936C8491-E763-4117-8695-E42A879BB3BD}"/>
    <dgm:cxn modelId="{C9BDF7EC-138C-42FC-B1FB-84BD93D0BCA8}" type="presOf" srcId="{0E0892DA-7103-44BC-99D6-04B972FBA308}" destId="{F195ABBD-C2ED-477C-9BF3-916CC287A11A}" srcOrd="0" destOrd="0" presId="urn:microsoft.com/office/officeart/2005/8/layout/vList2"/>
    <dgm:cxn modelId="{D781CFFD-1C20-4C59-B476-69A79C8A7E50}" srcId="{89B6EAFC-EFF2-4A6C-B2DB-157F5CFBFB09}" destId="{EB554840-9E5A-4CDC-BCF4-DCB0396751DD}" srcOrd="2" destOrd="0" parTransId="{47FA68C9-4F1E-42B8-8C37-D178141CB5D2}" sibTransId="{32F936CE-DE3B-4966-97E4-EC75BFDFEB0B}"/>
    <dgm:cxn modelId="{546961A7-7250-400E-81F5-F3D6932EAEE9}" type="presParOf" srcId="{46E444A3-00C0-406D-B709-14C2C2C805DA}" destId="{0D0EBBA6-AFBB-4374-954C-6F7348D336A8}" srcOrd="0" destOrd="0" presId="urn:microsoft.com/office/officeart/2005/8/layout/vList2"/>
    <dgm:cxn modelId="{0032CDB9-F14C-4B21-B6CB-AA6F6CE5A2D4}" type="presParOf" srcId="{46E444A3-00C0-406D-B709-14C2C2C805DA}" destId="{12F2DB70-B483-448E-BDA5-B28051264B09}" srcOrd="1" destOrd="0" presId="urn:microsoft.com/office/officeart/2005/8/layout/vList2"/>
    <dgm:cxn modelId="{77AB8592-7E0B-4DD5-8732-C09DF8472E1D}" type="presParOf" srcId="{46E444A3-00C0-406D-B709-14C2C2C805DA}" destId="{E779D004-BD41-4965-8AFB-D074003763D3}" srcOrd="2" destOrd="0" presId="urn:microsoft.com/office/officeart/2005/8/layout/vList2"/>
    <dgm:cxn modelId="{77E1D2B5-FD75-4333-A86D-74A9B2F7CE0B}" type="presParOf" srcId="{46E444A3-00C0-406D-B709-14C2C2C805DA}" destId="{2E46E15F-F0C0-49D8-86D9-16DC74B862AF}" srcOrd="3" destOrd="0" presId="urn:microsoft.com/office/officeart/2005/8/layout/vList2"/>
    <dgm:cxn modelId="{9BDA74E3-A683-454E-8A03-D4EF3482DDEB}" type="presParOf" srcId="{46E444A3-00C0-406D-B709-14C2C2C805DA}" destId="{B20FBA9D-FB41-4621-AF61-3A055AA584C6}" srcOrd="4" destOrd="0" presId="urn:microsoft.com/office/officeart/2005/8/layout/vList2"/>
    <dgm:cxn modelId="{1D6B5069-56B5-4FEC-B839-79B624493101}" type="presParOf" srcId="{46E444A3-00C0-406D-B709-14C2C2C805DA}" destId="{F195ABBD-C2ED-477C-9BF3-916CC287A11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83CFD4-DD46-4D92-B397-D647165D86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A5991F3-622A-48C6-9386-64284D2BED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During the analysis, 819 orders were identified with negative profit values, representing approximately 4.9% of total orders.</a:t>
          </a:r>
        </a:p>
      </dgm:t>
    </dgm:pt>
    <dgm:pt modelId="{B411CB5E-4DDE-4299-B6A4-66AFE45F3C56}" type="parTrans" cxnId="{C9855C25-0384-4155-A72E-50B88FDE8DAF}">
      <dgm:prSet/>
      <dgm:spPr/>
      <dgm:t>
        <a:bodyPr/>
        <a:lstStyle/>
        <a:p>
          <a:endParaRPr lang="en-US"/>
        </a:p>
      </dgm:t>
    </dgm:pt>
    <dgm:pt modelId="{C4FFC361-F9EB-489A-AB81-B1A939BCD662}" type="sibTrans" cxnId="{C9855C25-0384-4155-A72E-50B88FDE8DAF}">
      <dgm:prSet/>
      <dgm:spPr/>
      <dgm:t>
        <a:bodyPr/>
        <a:lstStyle/>
        <a:p>
          <a:endParaRPr lang="en-US"/>
        </a:p>
      </dgm:t>
    </dgm:pt>
    <dgm:pt modelId="{08879D25-F361-462E-9DB9-3F2371E6E3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Further investigation showed that:</a:t>
          </a:r>
        </a:p>
      </dgm:t>
    </dgm:pt>
    <dgm:pt modelId="{F80B33AE-B616-414C-B1DB-7160422940AB}" type="parTrans" cxnId="{79AA4F37-B6E7-43DE-8B45-E920D1D4E510}">
      <dgm:prSet/>
      <dgm:spPr/>
      <dgm:t>
        <a:bodyPr/>
        <a:lstStyle/>
        <a:p>
          <a:endParaRPr lang="en-US"/>
        </a:p>
      </dgm:t>
    </dgm:pt>
    <dgm:pt modelId="{8BE14C49-0179-4BC0-B7FD-80B9C1E22A94}" type="sibTrans" cxnId="{79AA4F37-B6E7-43DE-8B45-E920D1D4E510}">
      <dgm:prSet/>
      <dgm:spPr/>
      <dgm:t>
        <a:bodyPr/>
        <a:lstStyle/>
        <a:p>
          <a:endParaRPr lang="en-US"/>
        </a:p>
      </dgm:t>
    </dgm:pt>
    <dgm:pt modelId="{9D3E8FE7-51E6-4655-A8E3-EDA4BE6CBD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30 orders had discounts 95% </a:t>
          </a:r>
        </a:p>
      </dgm:t>
    </dgm:pt>
    <dgm:pt modelId="{6A07D2B5-228C-4A74-A7BF-CEF5538DDE15}" type="parTrans" cxnId="{C944E67F-5E97-493D-9ADE-324C99BB8E64}">
      <dgm:prSet/>
      <dgm:spPr/>
      <dgm:t>
        <a:bodyPr/>
        <a:lstStyle/>
        <a:p>
          <a:endParaRPr lang="en-US"/>
        </a:p>
      </dgm:t>
    </dgm:pt>
    <dgm:pt modelId="{95926A1F-EFEB-4115-84B5-F8B00E3875F9}" type="sibTrans" cxnId="{C944E67F-5E97-493D-9ADE-324C99BB8E64}">
      <dgm:prSet/>
      <dgm:spPr/>
      <dgm:t>
        <a:bodyPr/>
        <a:lstStyle/>
        <a:p>
          <a:endParaRPr lang="en-US"/>
        </a:p>
      </dgm:t>
    </dgm:pt>
    <dgm:pt modelId="{3F64A77E-4EB7-484E-88C7-372F1F0D03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Most negative-profit orders belonged to the Office Supplies</a:t>
          </a:r>
        </a:p>
      </dgm:t>
    </dgm:pt>
    <dgm:pt modelId="{1F714A2D-C3BE-4993-92B1-C5E87859DCB3}" type="parTrans" cxnId="{913E1018-58AB-42A2-A938-695B7A978FF5}">
      <dgm:prSet/>
      <dgm:spPr/>
      <dgm:t>
        <a:bodyPr/>
        <a:lstStyle/>
        <a:p>
          <a:endParaRPr lang="en-US"/>
        </a:p>
      </dgm:t>
    </dgm:pt>
    <dgm:pt modelId="{C0C12600-ED56-42C1-AE78-A7A35DE2A4CB}" type="sibTrans" cxnId="{913E1018-58AB-42A2-A938-695B7A978FF5}">
      <dgm:prSet/>
      <dgm:spPr/>
      <dgm:t>
        <a:bodyPr/>
        <a:lstStyle/>
        <a:p>
          <a:endParaRPr lang="en-US"/>
        </a:p>
      </dgm:t>
    </dgm:pt>
    <dgm:pt modelId="{1C53838E-7B63-439A-B69D-10E1F512C5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findings suggest that despite financial losses and operational challenges in some cases, the company maintained an almost equal fulfillment performance for negative-profit orders compared to the overall dataset.</a:t>
          </a:r>
        </a:p>
      </dgm:t>
    </dgm:pt>
    <dgm:pt modelId="{FBF3954E-02B4-464B-A0B8-9C67AB6B360C}" type="parTrans" cxnId="{6B8210AD-98AE-4124-A77E-63F4EDF5A4FC}">
      <dgm:prSet/>
      <dgm:spPr/>
      <dgm:t>
        <a:bodyPr/>
        <a:lstStyle/>
        <a:p>
          <a:endParaRPr lang="en-US"/>
        </a:p>
      </dgm:t>
    </dgm:pt>
    <dgm:pt modelId="{58B4E4A9-256D-4329-AB68-FC941A45A57E}" type="sibTrans" cxnId="{6B8210AD-98AE-4124-A77E-63F4EDF5A4FC}">
      <dgm:prSet/>
      <dgm:spPr/>
      <dgm:t>
        <a:bodyPr/>
        <a:lstStyle/>
        <a:p>
          <a:endParaRPr lang="en-US"/>
        </a:p>
      </dgm:t>
    </dgm:pt>
    <dgm:pt modelId="{7249A2C5-60A5-4F11-9B0F-400E748F2C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Key Insight</a:t>
          </a:r>
          <a:endParaRPr lang="en-US"/>
        </a:p>
      </dgm:t>
    </dgm:pt>
    <dgm:pt modelId="{7F6E538D-2729-4227-8AF5-306472898E59}" type="parTrans" cxnId="{9DF40362-8183-4A1A-8821-ED09233D9F67}">
      <dgm:prSet/>
      <dgm:spPr/>
      <dgm:t>
        <a:bodyPr/>
        <a:lstStyle/>
        <a:p>
          <a:endParaRPr lang="en-US"/>
        </a:p>
      </dgm:t>
    </dgm:pt>
    <dgm:pt modelId="{B090CECB-3FA5-42CF-BA8E-FDB7DCB2E09F}" type="sibTrans" cxnId="{9DF40362-8183-4A1A-8821-ED09233D9F67}">
      <dgm:prSet/>
      <dgm:spPr/>
      <dgm:t>
        <a:bodyPr/>
        <a:lstStyle/>
        <a:p>
          <a:endParaRPr lang="en-US"/>
        </a:p>
      </dgm:t>
    </dgm:pt>
    <dgm:pt modelId="{E942D49D-8019-4A78-9668-12CF9BE3FD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Negative profitability did not significantly reduce overall service level performance, indicating that operational fulfillment remained relatively stable despite financial losses.</a:t>
          </a:r>
        </a:p>
      </dgm:t>
    </dgm:pt>
    <dgm:pt modelId="{BCCAA550-EFDD-473F-B5BF-755A5ED17E09}" type="parTrans" cxnId="{FA6F437F-E0CD-4CDF-BD11-31B683ECA733}">
      <dgm:prSet/>
      <dgm:spPr/>
      <dgm:t>
        <a:bodyPr/>
        <a:lstStyle/>
        <a:p>
          <a:endParaRPr lang="en-US"/>
        </a:p>
      </dgm:t>
    </dgm:pt>
    <dgm:pt modelId="{69FEA854-466A-4308-9564-06D5B9564B32}" type="sibTrans" cxnId="{FA6F437F-E0CD-4CDF-BD11-31B683ECA733}">
      <dgm:prSet/>
      <dgm:spPr/>
      <dgm:t>
        <a:bodyPr/>
        <a:lstStyle/>
        <a:p>
          <a:endParaRPr lang="en-US"/>
        </a:p>
      </dgm:t>
    </dgm:pt>
    <dgm:pt modelId="{EF638DA0-90AC-45C9-9535-6973CEA2B087}" type="pres">
      <dgm:prSet presAssocID="{D383CFD4-DD46-4D92-B397-D647165D867B}" presName="root" presStyleCnt="0">
        <dgm:presLayoutVars>
          <dgm:dir/>
          <dgm:resizeHandles val="exact"/>
        </dgm:presLayoutVars>
      </dgm:prSet>
      <dgm:spPr/>
    </dgm:pt>
    <dgm:pt modelId="{8C14A59B-A4AA-4FC0-8239-733331FB1877}" type="pres">
      <dgm:prSet presAssocID="{AA5991F3-622A-48C6-9386-64284D2BEDF0}" presName="compNode" presStyleCnt="0"/>
      <dgm:spPr/>
    </dgm:pt>
    <dgm:pt modelId="{5BC139AC-881F-4192-BD9D-444A327281DD}" type="pres">
      <dgm:prSet presAssocID="{AA5991F3-622A-48C6-9386-64284D2BEDF0}" presName="bgRect" presStyleLbl="bgShp" presStyleIdx="0" presStyleCnt="4"/>
      <dgm:spPr/>
    </dgm:pt>
    <dgm:pt modelId="{4FD90C51-473B-42DD-B246-D89F4FD5587D}" type="pres">
      <dgm:prSet presAssocID="{AA5991F3-622A-48C6-9386-64284D2BEDF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8F017C30-4DAE-47B3-A226-79AAB8332922}" type="pres">
      <dgm:prSet presAssocID="{AA5991F3-622A-48C6-9386-64284D2BEDF0}" presName="spaceRect" presStyleCnt="0"/>
      <dgm:spPr/>
    </dgm:pt>
    <dgm:pt modelId="{3167B8FE-0EAB-4BDB-A965-FA31FC7BEA18}" type="pres">
      <dgm:prSet presAssocID="{AA5991F3-622A-48C6-9386-64284D2BEDF0}" presName="parTx" presStyleLbl="revTx" presStyleIdx="0" presStyleCnt="6">
        <dgm:presLayoutVars>
          <dgm:chMax val="0"/>
          <dgm:chPref val="0"/>
        </dgm:presLayoutVars>
      </dgm:prSet>
      <dgm:spPr/>
    </dgm:pt>
    <dgm:pt modelId="{16391275-F14B-4C13-9783-73A73411B874}" type="pres">
      <dgm:prSet presAssocID="{C4FFC361-F9EB-489A-AB81-B1A939BCD662}" presName="sibTrans" presStyleCnt="0"/>
      <dgm:spPr/>
    </dgm:pt>
    <dgm:pt modelId="{CD9C45E7-2FEC-423B-80EF-CBCCC7A4558F}" type="pres">
      <dgm:prSet presAssocID="{08879D25-F361-462E-9DB9-3F2371E6E32F}" presName="compNode" presStyleCnt="0"/>
      <dgm:spPr/>
    </dgm:pt>
    <dgm:pt modelId="{AEF1562E-5287-4516-9D56-C66AC9A97A59}" type="pres">
      <dgm:prSet presAssocID="{08879D25-F361-462E-9DB9-3F2371E6E32F}" presName="bgRect" presStyleLbl="bgShp" presStyleIdx="1" presStyleCnt="4"/>
      <dgm:spPr/>
    </dgm:pt>
    <dgm:pt modelId="{BE4F9457-710A-4551-9B46-2A60CB3AB955}" type="pres">
      <dgm:prSet presAssocID="{08879D25-F361-462E-9DB9-3F2371E6E32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7BE6D63E-E498-4F2C-A352-51A558A35C04}" type="pres">
      <dgm:prSet presAssocID="{08879D25-F361-462E-9DB9-3F2371E6E32F}" presName="spaceRect" presStyleCnt="0"/>
      <dgm:spPr/>
    </dgm:pt>
    <dgm:pt modelId="{7FE27EFB-EA2D-4054-88EC-EDBE2420C764}" type="pres">
      <dgm:prSet presAssocID="{08879D25-F361-462E-9DB9-3F2371E6E32F}" presName="parTx" presStyleLbl="revTx" presStyleIdx="1" presStyleCnt="6">
        <dgm:presLayoutVars>
          <dgm:chMax val="0"/>
          <dgm:chPref val="0"/>
        </dgm:presLayoutVars>
      </dgm:prSet>
      <dgm:spPr/>
    </dgm:pt>
    <dgm:pt modelId="{8156E473-565F-4D77-9EA0-D059AD2FECA0}" type="pres">
      <dgm:prSet presAssocID="{08879D25-F361-462E-9DB9-3F2371E6E32F}" presName="desTx" presStyleLbl="revTx" presStyleIdx="2" presStyleCnt="6">
        <dgm:presLayoutVars/>
      </dgm:prSet>
      <dgm:spPr/>
    </dgm:pt>
    <dgm:pt modelId="{47F253B3-FC45-4AAF-9366-D93D5BBAC377}" type="pres">
      <dgm:prSet presAssocID="{8BE14C49-0179-4BC0-B7FD-80B9C1E22A94}" presName="sibTrans" presStyleCnt="0"/>
      <dgm:spPr/>
    </dgm:pt>
    <dgm:pt modelId="{13659670-F5E7-467F-9475-7C69601CCC59}" type="pres">
      <dgm:prSet presAssocID="{1C53838E-7B63-439A-B69D-10E1F512C524}" presName="compNode" presStyleCnt="0"/>
      <dgm:spPr/>
    </dgm:pt>
    <dgm:pt modelId="{CC7C828A-C37E-42B3-8CCC-EC08CE772B8D}" type="pres">
      <dgm:prSet presAssocID="{1C53838E-7B63-439A-B69D-10E1F512C524}" presName="bgRect" presStyleLbl="bgShp" presStyleIdx="2" presStyleCnt="4"/>
      <dgm:spPr/>
    </dgm:pt>
    <dgm:pt modelId="{3E58187C-B3C3-456D-8BEB-2741CBB780C4}" type="pres">
      <dgm:prSet presAssocID="{1C53838E-7B63-439A-B69D-10E1F512C52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CAD16E9D-222C-4DB3-A4EE-EF5133FB7934}" type="pres">
      <dgm:prSet presAssocID="{1C53838E-7B63-439A-B69D-10E1F512C524}" presName="spaceRect" presStyleCnt="0"/>
      <dgm:spPr/>
    </dgm:pt>
    <dgm:pt modelId="{A21B34F7-D6CB-42FA-A044-3810835E09AA}" type="pres">
      <dgm:prSet presAssocID="{1C53838E-7B63-439A-B69D-10E1F512C524}" presName="parTx" presStyleLbl="revTx" presStyleIdx="3" presStyleCnt="6">
        <dgm:presLayoutVars>
          <dgm:chMax val="0"/>
          <dgm:chPref val="0"/>
        </dgm:presLayoutVars>
      </dgm:prSet>
      <dgm:spPr/>
    </dgm:pt>
    <dgm:pt modelId="{AAF58B8D-312F-4F04-A943-972F50F01598}" type="pres">
      <dgm:prSet presAssocID="{58B4E4A9-256D-4329-AB68-FC941A45A57E}" presName="sibTrans" presStyleCnt="0"/>
      <dgm:spPr/>
    </dgm:pt>
    <dgm:pt modelId="{4525FFCC-9EAD-4AF1-A709-0A2DC8A7A237}" type="pres">
      <dgm:prSet presAssocID="{7249A2C5-60A5-4F11-9B0F-400E748F2C15}" presName="compNode" presStyleCnt="0"/>
      <dgm:spPr/>
    </dgm:pt>
    <dgm:pt modelId="{16967037-F0BF-4439-9F87-076B08423301}" type="pres">
      <dgm:prSet presAssocID="{7249A2C5-60A5-4F11-9B0F-400E748F2C15}" presName="bgRect" presStyleLbl="bgShp" presStyleIdx="3" presStyleCnt="4"/>
      <dgm:spPr/>
    </dgm:pt>
    <dgm:pt modelId="{717443E6-F03C-4910-8069-E67E307A2C59}" type="pres">
      <dgm:prSet presAssocID="{7249A2C5-60A5-4F11-9B0F-400E748F2C1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CFFC936-648E-4001-AE1F-6C7AA0D878C7}" type="pres">
      <dgm:prSet presAssocID="{7249A2C5-60A5-4F11-9B0F-400E748F2C15}" presName="spaceRect" presStyleCnt="0"/>
      <dgm:spPr/>
    </dgm:pt>
    <dgm:pt modelId="{3FA3D784-5E1D-47A1-BDF3-229F239ADF4A}" type="pres">
      <dgm:prSet presAssocID="{7249A2C5-60A5-4F11-9B0F-400E748F2C15}" presName="parTx" presStyleLbl="revTx" presStyleIdx="4" presStyleCnt="6">
        <dgm:presLayoutVars>
          <dgm:chMax val="0"/>
          <dgm:chPref val="0"/>
        </dgm:presLayoutVars>
      </dgm:prSet>
      <dgm:spPr/>
    </dgm:pt>
    <dgm:pt modelId="{78355735-D050-49D1-888B-507DFC79DA43}" type="pres">
      <dgm:prSet presAssocID="{7249A2C5-60A5-4F11-9B0F-400E748F2C15}" presName="desTx" presStyleLbl="revTx" presStyleIdx="5" presStyleCnt="6">
        <dgm:presLayoutVars/>
      </dgm:prSet>
      <dgm:spPr/>
    </dgm:pt>
  </dgm:ptLst>
  <dgm:cxnLst>
    <dgm:cxn modelId="{3C08CE15-7388-403C-A7E6-FA77FB4CBAA5}" type="presOf" srcId="{1C53838E-7B63-439A-B69D-10E1F512C524}" destId="{A21B34F7-D6CB-42FA-A044-3810835E09AA}" srcOrd="0" destOrd="0" presId="urn:microsoft.com/office/officeart/2018/2/layout/IconVerticalSolidList"/>
    <dgm:cxn modelId="{913E1018-58AB-42A2-A938-695B7A978FF5}" srcId="{08879D25-F361-462E-9DB9-3F2371E6E32F}" destId="{3F64A77E-4EB7-484E-88C7-372F1F0D0314}" srcOrd="1" destOrd="0" parTransId="{1F714A2D-C3BE-4993-92B1-C5E87859DCB3}" sibTransId="{C0C12600-ED56-42C1-AE78-A7A35DE2A4CB}"/>
    <dgm:cxn modelId="{56C63E18-F552-46D0-95B3-5A5A18875E4B}" type="presOf" srcId="{9D3E8FE7-51E6-4655-A8E3-EDA4BE6CBD8B}" destId="{8156E473-565F-4D77-9EA0-D059AD2FECA0}" srcOrd="0" destOrd="0" presId="urn:microsoft.com/office/officeart/2018/2/layout/IconVerticalSolidList"/>
    <dgm:cxn modelId="{C9855C25-0384-4155-A72E-50B88FDE8DAF}" srcId="{D383CFD4-DD46-4D92-B397-D647165D867B}" destId="{AA5991F3-622A-48C6-9386-64284D2BEDF0}" srcOrd="0" destOrd="0" parTransId="{B411CB5E-4DDE-4299-B6A4-66AFE45F3C56}" sibTransId="{C4FFC361-F9EB-489A-AB81-B1A939BCD662}"/>
    <dgm:cxn modelId="{8A8EBB28-7B5E-4A2C-9936-BB75DD2F6162}" type="presOf" srcId="{D383CFD4-DD46-4D92-B397-D647165D867B}" destId="{EF638DA0-90AC-45C9-9535-6973CEA2B087}" srcOrd="0" destOrd="0" presId="urn:microsoft.com/office/officeart/2018/2/layout/IconVerticalSolidList"/>
    <dgm:cxn modelId="{79AA4F37-B6E7-43DE-8B45-E920D1D4E510}" srcId="{D383CFD4-DD46-4D92-B397-D647165D867B}" destId="{08879D25-F361-462E-9DB9-3F2371E6E32F}" srcOrd="1" destOrd="0" parTransId="{F80B33AE-B616-414C-B1DB-7160422940AB}" sibTransId="{8BE14C49-0179-4BC0-B7FD-80B9C1E22A94}"/>
    <dgm:cxn modelId="{9DF40362-8183-4A1A-8821-ED09233D9F67}" srcId="{D383CFD4-DD46-4D92-B397-D647165D867B}" destId="{7249A2C5-60A5-4F11-9B0F-400E748F2C15}" srcOrd="3" destOrd="0" parTransId="{7F6E538D-2729-4227-8AF5-306472898E59}" sibTransId="{B090CECB-3FA5-42CF-BA8E-FDB7DCB2E09F}"/>
    <dgm:cxn modelId="{6E7DAB72-740E-45B0-BC2D-719EC04ED86E}" type="presOf" srcId="{08879D25-F361-462E-9DB9-3F2371E6E32F}" destId="{7FE27EFB-EA2D-4054-88EC-EDBE2420C764}" srcOrd="0" destOrd="0" presId="urn:microsoft.com/office/officeart/2018/2/layout/IconVerticalSolidList"/>
    <dgm:cxn modelId="{FA6F437F-E0CD-4CDF-BD11-31B683ECA733}" srcId="{7249A2C5-60A5-4F11-9B0F-400E748F2C15}" destId="{E942D49D-8019-4A78-9668-12CF9BE3FDE7}" srcOrd="0" destOrd="0" parTransId="{BCCAA550-EFDD-473F-B5BF-755A5ED17E09}" sibTransId="{69FEA854-466A-4308-9564-06D5B9564B32}"/>
    <dgm:cxn modelId="{C944E67F-5E97-493D-9ADE-324C99BB8E64}" srcId="{08879D25-F361-462E-9DB9-3F2371E6E32F}" destId="{9D3E8FE7-51E6-4655-A8E3-EDA4BE6CBD8B}" srcOrd="0" destOrd="0" parTransId="{6A07D2B5-228C-4A74-A7BF-CEF5538DDE15}" sibTransId="{95926A1F-EFEB-4115-84B5-F8B00E3875F9}"/>
    <dgm:cxn modelId="{3FB4BCA1-C936-4E4F-883E-43B7C22D39C1}" type="presOf" srcId="{7249A2C5-60A5-4F11-9B0F-400E748F2C15}" destId="{3FA3D784-5E1D-47A1-BDF3-229F239ADF4A}" srcOrd="0" destOrd="0" presId="urn:microsoft.com/office/officeart/2018/2/layout/IconVerticalSolidList"/>
    <dgm:cxn modelId="{4C6F37A9-953B-4252-A2AB-2B7E44C54CB0}" type="presOf" srcId="{AA5991F3-622A-48C6-9386-64284D2BEDF0}" destId="{3167B8FE-0EAB-4BDB-A965-FA31FC7BEA18}" srcOrd="0" destOrd="0" presId="urn:microsoft.com/office/officeart/2018/2/layout/IconVerticalSolidList"/>
    <dgm:cxn modelId="{6B8210AD-98AE-4124-A77E-63F4EDF5A4FC}" srcId="{D383CFD4-DD46-4D92-B397-D647165D867B}" destId="{1C53838E-7B63-439A-B69D-10E1F512C524}" srcOrd="2" destOrd="0" parTransId="{FBF3954E-02B4-464B-A0B8-9C67AB6B360C}" sibTransId="{58B4E4A9-256D-4329-AB68-FC941A45A57E}"/>
    <dgm:cxn modelId="{420E31C7-9915-42DA-AF4F-E56BBF9CC2F0}" type="presOf" srcId="{E942D49D-8019-4A78-9668-12CF9BE3FDE7}" destId="{78355735-D050-49D1-888B-507DFC79DA43}" srcOrd="0" destOrd="0" presId="urn:microsoft.com/office/officeart/2018/2/layout/IconVerticalSolidList"/>
    <dgm:cxn modelId="{F2E993E7-54CF-4003-8B60-9E972B38F321}" type="presOf" srcId="{3F64A77E-4EB7-484E-88C7-372F1F0D0314}" destId="{8156E473-565F-4D77-9EA0-D059AD2FECA0}" srcOrd="0" destOrd="1" presId="urn:microsoft.com/office/officeart/2018/2/layout/IconVerticalSolidList"/>
    <dgm:cxn modelId="{0E6CBB88-F451-4DD4-B1D2-9B066C38F164}" type="presParOf" srcId="{EF638DA0-90AC-45C9-9535-6973CEA2B087}" destId="{8C14A59B-A4AA-4FC0-8239-733331FB1877}" srcOrd="0" destOrd="0" presId="urn:microsoft.com/office/officeart/2018/2/layout/IconVerticalSolidList"/>
    <dgm:cxn modelId="{35ED75A9-8D40-41A3-A1E3-EE012C1741C7}" type="presParOf" srcId="{8C14A59B-A4AA-4FC0-8239-733331FB1877}" destId="{5BC139AC-881F-4192-BD9D-444A327281DD}" srcOrd="0" destOrd="0" presId="urn:microsoft.com/office/officeart/2018/2/layout/IconVerticalSolidList"/>
    <dgm:cxn modelId="{D2B61507-77B2-4238-AA55-1B506D2EEBBE}" type="presParOf" srcId="{8C14A59B-A4AA-4FC0-8239-733331FB1877}" destId="{4FD90C51-473B-42DD-B246-D89F4FD5587D}" srcOrd="1" destOrd="0" presId="urn:microsoft.com/office/officeart/2018/2/layout/IconVerticalSolidList"/>
    <dgm:cxn modelId="{1EBA7CE2-6392-4210-AC49-F5FD642751ED}" type="presParOf" srcId="{8C14A59B-A4AA-4FC0-8239-733331FB1877}" destId="{8F017C30-4DAE-47B3-A226-79AAB8332922}" srcOrd="2" destOrd="0" presId="urn:microsoft.com/office/officeart/2018/2/layout/IconVerticalSolidList"/>
    <dgm:cxn modelId="{106099CC-1D9D-4222-BCF1-E933B8401FC0}" type="presParOf" srcId="{8C14A59B-A4AA-4FC0-8239-733331FB1877}" destId="{3167B8FE-0EAB-4BDB-A965-FA31FC7BEA18}" srcOrd="3" destOrd="0" presId="urn:microsoft.com/office/officeart/2018/2/layout/IconVerticalSolidList"/>
    <dgm:cxn modelId="{7BD87A9E-2696-4541-A389-41B04AF3B0F2}" type="presParOf" srcId="{EF638DA0-90AC-45C9-9535-6973CEA2B087}" destId="{16391275-F14B-4C13-9783-73A73411B874}" srcOrd="1" destOrd="0" presId="urn:microsoft.com/office/officeart/2018/2/layout/IconVerticalSolidList"/>
    <dgm:cxn modelId="{53E93EEA-4812-43B7-813C-76C0F025C018}" type="presParOf" srcId="{EF638DA0-90AC-45C9-9535-6973CEA2B087}" destId="{CD9C45E7-2FEC-423B-80EF-CBCCC7A4558F}" srcOrd="2" destOrd="0" presId="urn:microsoft.com/office/officeart/2018/2/layout/IconVerticalSolidList"/>
    <dgm:cxn modelId="{FB7547AB-0B5D-48C8-B915-24007BF50DA0}" type="presParOf" srcId="{CD9C45E7-2FEC-423B-80EF-CBCCC7A4558F}" destId="{AEF1562E-5287-4516-9D56-C66AC9A97A59}" srcOrd="0" destOrd="0" presId="urn:microsoft.com/office/officeart/2018/2/layout/IconVerticalSolidList"/>
    <dgm:cxn modelId="{044E69B8-9DF1-4CB5-A120-0A1EF062A082}" type="presParOf" srcId="{CD9C45E7-2FEC-423B-80EF-CBCCC7A4558F}" destId="{BE4F9457-710A-4551-9B46-2A60CB3AB955}" srcOrd="1" destOrd="0" presId="urn:microsoft.com/office/officeart/2018/2/layout/IconVerticalSolidList"/>
    <dgm:cxn modelId="{55A2423B-5414-4E2B-88AD-6109DAD7F00E}" type="presParOf" srcId="{CD9C45E7-2FEC-423B-80EF-CBCCC7A4558F}" destId="{7BE6D63E-E498-4F2C-A352-51A558A35C04}" srcOrd="2" destOrd="0" presId="urn:microsoft.com/office/officeart/2018/2/layout/IconVerticalSolidList"/>
    <dgm:cxn modelId="{3D8DBDE9-F695-40DC-9EA7-1A28450DC7E5}" type="presParOf" srcId="{CD9C45E7-2FEC-423B-80EF-CBCCC7A4558F}" destId="{7FE27EFB-EA2D-4054-88EC-EDBE2420C764}" srcOrd="3" destOrd="0" presId="urn:microsoft.com/office/officeart/2018/2/layout/IconVerticalSolidList"/>
    <dgm:cxn modelId="{B3AF69A8-12B3-4736-A700-BD517FA3BDCE}" type="presParOf" srcId="{CD9C45E7-2FEC-423B-80EF-CBCCC7A4558F}" destId="{8156E473-565F-4D77-9EA0-D059AD2FECA0}" srcOrd="4" destOrd="0" presId="urn:microsoft.com/office/officeart/2018/2/layout/IconVerticalSolidList"/>
    <dgm:cxn modelId="{68E446DC-9BF8-4466-BF12-E1A4DB2B18DB}" type="presParOf" srcId="{EF638DA0-90AC-45C9-9535-6973CEA2B087}" destId="{47F253B3-FC45-4AAF-9366-D93D5BBAC377}" srcOrd="3" destOrd="0" presId="urn:microsoft.com/office/officeart/2018/2/layout/IconVerticalSolidList"/>
    <dgm:cxn modelId="{EB5A787A-EF0D-45A5-AE14-A48AAF3297FA}" type="presParOf" srcId="{EF638DA0-90AC-45C9-9535-6973CEA2B087}" destId="{13659670-F5E7-467F-9475-7C69601CCC59}" srcOrd="4" destOrd="0" presId="urn:microsoft.com/office/officeart/2018/2/layout/IconVerticalSolidList"/>
    <dgm:cxn modelId="{4D1D1526-1FF3-4265-9656-82F02B1C4EF1}" type="presParOf" srcId="{13659670-F5E7-467F-9475-7C69601CCC59}" destId="{CC7C828A-C37E-42B3-8CCC-EC08CE772B8D}" srcOrd="0" destOrd="0" presId="urn:microsoft.com/office/officeart/2018/2/layout/IconVerticalSolidList"/>
    <dgm:cxn modelId="{E3C83074-49B9-4097-AE75-9B7FEB021D25}" type="presParOf" srcId="{13659670-F5E7-467F-9475-7C69601CCC59}" destId="{3E58187C-B3C3-456D-8BEB-2741CBB780C4}" srcOrd="1" destOrd="0" presId="urn:microsoft.com/office/officeart/2018/2/layout/IconVerticalSolidList"/>
    <dgm:cxn modelId="{BC1E275A-DFB9-4A5B-AF81-4BBE1DE3A4C8}" type="presParOf" srcId="{13659670-F5E7-467F-9475-7C69601CCC59}" destId="{CAD16E9D-222C-4DB3-A4EE-EF5133FB7934}" srcOrd="2" destOrd="0" presId="urn:microsoft.com/office/officeart/2018/2/layout/IconVerticalSolidList"/>
    <dgm:cxn modelId="{3F4D3426-E111-4D59-828B-3EF561E0D689}" type="presParOf" srcId="{13659670-F5E7-467F-9475-7C69601CCC59}" destId="{A21B34F7-D6CB-42FA-A044-3810835E09AA}" srcOrd="3" destOrd="0" presId="urn:microsoft.com/office/officeart/2018/2/layout/IconVerticalSolidList"/>
    <dgm:cxn modelId="{52DA6A1C-B573-4190-B2BB-AC40F980BB00}" type="presParOf" srcId="{EF638DA0-90AC-45C9-9535-6973CEA2B087}" destId="{AAF58B8D-312F-4F04-A943-972F50F01598}" srcOrd="5" destOrd="0" presId="urn:microsoft.com/office/officeart/2018/2/layout/IconVerticalSolidList"/>
    <dgm:cxn modelId="{7BA8C074-1B49-4BB5-9BF6-43B04F23ACAD}" type="presParOf" srcId="{EF638DA0-90AC-45C9-9535-6973CEA2B087}" destId="{4525FFCC-9EAD-4AF1-A709-0A2DC8A7A237}" srcOrd="6" destOrd="0" presId="urn:microsoft.com/office/officeart/2018/2/layout/IconVerticalSolidList"/>
    <dgm:cxn modelId="{49EC90C2-C8DC-4C92-8E0B-0330E0FAE85F}" type="presParOf" srcId="{4525FFCC-9EAD-4AF1-A709-0A2DC8A7A237}" destId="{16967037-F0BF-4439-9F87-076B08423301}" srcOrd="0" destOrd="0" presId="urn:microsoft.com/office/officeart/2018/2/layout/IconVerticalSolidList"/>
    <dgm:cxn modelId="{B0385140-6BD7-4094-A4D2-6D4C14BAB1D4}" type="presParOf" srcId="{4525FFCC-9EAD-4AF1-A709-0A2DC8A7A237}" destId="{717443E6-F03C-4910-8069-E67E307A2C59}" srcOrd="1" destOrd="0" presId="urn:microsoft.com/office/officeart/2018/2/layout/IconVerticalSolidList"/>
    <dgm:cxn modelId="{A784286D-4B2A-4DF0-965D-D690762C01AB}" type="presParOf" srcId="{4525FFCC-9EAD-4AF1-A709-0A2DC8A7A237}" destId="{BCFFC936-648E-4001-AE1F-6C7AA0D878C7}" srcOrd="2" destOrd="0" presId="urn:microsoft.com/office/officeart/2018/2/layout/IconVerticalSolidList"/>
    <dgm:cxn modelId="{BF38F332-5686-4998-8959-C67DFD7EA996}" type="presParOf" srcId="{4525FFCC-9EAD-4AF1-A709-0A2DC8A7A237}" destId="{3FA3D784-5E1D-47A1-BDF3-229F239ADF4A}" srcOrd="3" destOrd="0" presId="urn:microsoft.com/office/officeart/2018/2/layout/IconVerticalSolidList"/>
    <dgm:cxn modelId="{3DDCBFEB-55CB-443A-B9E0-5344CD2DAA32}" type="presParOf" srcId="{4525FFCC-9EAD-4AF1-A709-0A2DC8A7A237}" destId="{78355735-D050-49D1-888B-507DFC79DA4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BA30B6-BEB1-4019-9097-291079112949}">
      <dsp:nvSpPr>
        <dsp:cNvPr id="0" name=""/>
        <dsp:cNvSpPr/>
      </dsp:nvSpPr>
      <dsp:spPr>
        <a:xfrm>
          <a:off x="0" y="0"/>
          <a:ext cx="3264408" cy="3264408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95881B-FF45-425A-8F37-11F38953C7FC}">
      <dsp:nvSpPr>
        <dsp:cNvPr id="0" name=""/>
        <dsp:cNvSpPr/>
      </dsp:nvSpPr>
      <dsp:spPr>
        <a:xfrm>
          <a:off x="1632204" y="0"/>
          <a:ext cx="6254496" cy="3264408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Handled missing values</a:t>
          </a:r>
        </a:p>
      </dsp:txBody>
      <dsp:txXfrm>
        <a:off x="1632204" y="0"/>
        <a:ext cx="6254496" cy="522305"/>
      </dsp:txXfrm>
    </dsp:sp>
    <dsp:sp modelId="{718FB6AC-9C19-48D2-A547-46634862E3C3}">
      <dsp:nvSpPr>
        <dsp:cNvPr id="0" name=""/>
        <dsp:cNvSpPr/>
      </dsp:nvSpPr>
      <dsp:spPr>
        <a:xfrm>
          <a:off x="342762" y="522305"/>
          <a:ext cx="2578882" cy="2578882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0AF61-4065-494D-9843-A6E2F4E58AD1}">
      <dsp:nvSpPr>
        <dsp:cNvPr id="0" name=""/>
        <dsp:cNvSpPr/>
      </dsp:nvSpPr>
      <dsp:spPr>
        <a:xfrm>
          <a:off x="1632204" y="522305"/>
          <a:ext cx="6254496" cy="2578882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Removed duplicates</a:t>
          </a:r>
        </a:p>
      </dsp:txBody>
      <dsp:txXfrm>
        <a:off x="1632204" y="522305"/>
        <a:ext cx="6254496" cy="522305"/>
      </dsp:txXfrm>
    </dsp:sp>
    <dsp:sp modelId="{06AF53CB-AC94-431D-98B4-347EB93B9FB8}">
      <dsp:nvSpPr>
        <dsp:cNvPr id="0" name=""/>
        <dsp:cNvSpPr/>
      </dsp:nvSpPr>
      <dsp:spPr>
        <a:xfrm>
          <a:off x="685525" y="1044610"/>
          <a:ext cx="1893356" cy="1893356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059F4A-6581-4F6A-AB06-33374F7CB79E}">
      <dsp:nvSpPr>
        <dsp:cNvPr id="0" name=""/>
        <dsp:cNvSpPr/>
      </dsp:nvSpPr>
      <dsp:spPr>
        <a:xfrm>
          <a:off x="1632204" y="1044610"/>
          <a:ext cx="6254496" cy="1893356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Fixed inconsistent date formats</a:t>
          </a:r>
        </a:p>
      </dsp:txBody>
      <dsp:txXfrm>
        <a:off x="1632204" y="1044610"/>
        <a:ext cx="6254496" cy="522305"/>
      </dsp:txXfrm>
    </dsp:sp>
    <dsp:sp modelId="{E785A981-D466-48EA-B3C1-01D73343BBFF}">
      <dsp:nvSpPr>
        <dsp:cNvPr id="0" name=""/>
        <dsp:cNvSpPr/>
      </dsp:nvSpPr>
      <dsp:spPr>
        <a:xfrm>
          <a:off x="1028288" y="1566915"/>
          <a:ext cx="1207830" cy="1207830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98AC83-350D-4FD8-A41B-298C68D65152}">
      <dsp:nvSpPr>
        <dsp:cNvPr id="0" name=""/>
        <dsp:cNvSpPr/>
      </dsp:nvSpPr>
      <dsp:spPr>
        <a:xfrm>
          <a:off x="1632204" y="1566915"/>
          <a:ext cx="6254496" cy="120783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Standardized columns</a:t>
          </a:r>
        </a:p>
      </dsp:txBody>
      <dsp:txXfrm>
        <a:off x="1632204" y="1566915"/>
        <a:ext cx="6254496" cy="522305"/>
      </dsp:txXfrm>
    </dsp:sp>
    <dsp:sp modelId="{5B8EF961-315F-4450-B6DC-51A0208BFBD9}">
      <dsp:nvSpPr>
        <dsp:cNvPr id="0" name=""/>
        <dsp:cNvSpPr/>
      </dsp:nvSpPr>
      <dsp:spPr>
        <a:xfrm>
          <a:off x="1371051" y="2089221"/>
          <a:ext cx="522305" cy="522305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709BEB-A998-4678-A422-31BA4CA5165C}">
      <dsp:nvSpPr>
        <dsp:cNvPr id="0" name=""/>
        <dsp:cNvSpPr/>
      </dsp:nvSpPr>
      <dsp:spPr>
        <a:xfrm>
          <a:off x="1632204" y="2089221"/>
          <a:ext cx="6254496" cy="52230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Prepared data for visualization and analysis</a:t>
          </a:r>
        </a:p>
      </dsp:txBody>
      <dsp:txXfrm>
        <a:off x="1632204" y="2089221"/>
        <a:ext cx="6254496" cy="5223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0EBBA6-AFBB-4374-954C-6F7348D336A8}">
      <dsp:nvSpPr>
        <dsp:cNvPr id="0" name=""/>
        <dsp:cNvSpPr/>
      </dsp:nvSpPr>
      <dsp:spPr>
        <a:xfrm>
          <a:off x="0" y="66112"/>
          <a:ext cx="7886700" cy="6364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During the discount analysis, approximately 30 records were identified with extremely high discount rates 95%.</a:t>
          </a:r>
        </a:p>
      </dsp:txBody>
      <dsp:txXfrm>
        <a:off x="31070" y="97182"/>
        <a:ext cx="7824560" cy="574340"/>
      </dsp:txXfrm>
    </dsp:sp>
    <dsp:sp modelId="{E779D004-BD41-4965-8AFB-D074003763D3}">
      <dsp:nvSpPr>
        <dsp:cNvPr id="0" name=""/>
        <dsp:cNvSpPr/>
      </dsp:nvSpPr>
      <dsp:spPr>
        <a:xfrm>
          <a:off x="0" y="748672"/>
          <a:ext cx="7886700" cy="6364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Further investigation showed that:</a:t>
          </a:r>
        </a:p>
      </dsp:txBody>
      <dsp:txXfrm>
        <a:off x="31070" y="779742"/>
        <a:ext cx="7824560" cy="574340"/>
      </dsp:txXfrm>
    </dsp:sp>
    <dsp:sp modelId="{2E46E15F-F0C0-49D8-86D9-16DC74B862AF}">
      <dsp:nvSpPr>
        <dsp:cNvPr id="0" name=""/>
        <dsp:cNvSpPr/>
      </dsp:nvSpPr>
      <dsp:spPr>
        <a:xfrm>
          <a:off x="0" y="1385152"/>
          <a:ext cx="7886700" cy="794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All records belonged to the Furniture category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All of these orders generated negative profits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This suggests that the company may have applied aggressive clearance pricing strategies to dispose of old or low-demand inventory.</a:t>
          </a:r>
        </a:p>
      </dsp:txBody>
      <dsp:txXfrm>
        <a:off x="0" y="1385152"/>
        <a:ext cx="7886700" cy="794880"/>
      </dsp:txXfrm>
    </dsp:sp>
    <dsp:sp modelId="{B20FBA9D-FB41-4621-AF61-3A055AA584C6}">
      <dsp:nvSpPr>
        <dsp:cNvPr id="0" name=""/>
        <dsp:cNvSpPr/>
      </dsp:nvSpPr>
      <dsp:spPr>
        <a:xfrm>
          <a:off x="0" y="2180032"/>
          <a:ext cx="7886700" cy="6364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Key Insight</a:t>
          </a:r>
          <a:endParaRPr lang="en-US" sz="1600" kern="1200"/>
        </a:p>
      </dsp:txBody>
      <dsp:txXfrm>
        <a:off x="31070" y="2211102"/>
        <a:ext cx="7824560" cy="574340"/>
      </dsp:txXfrm>
    </dsp:sp>
    <dsp:sp modelId="{F195ABBD-C2ED-477C-9BF3-916CC287A11A}">
      <dsp:nvSpPr>
        <dsp:cNvPr id="0" name=""/>
        <dsp:cNvSpPr/>
      </dsp:nvSpPr>
      <dsp:spPr>
        <a:xfrm>
          <a:off x="0" y="2816512"/>
          <a:ext cx="78867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Extremely high discounts significantly reduced profitability and were likely used as part of an inventory liquidation strategy rather than normal sales operations.</a:t>
          </a:r>
        </a:p>
      </dsp:txBody>
      <dsp:txXfrm>
        <a:off x="0" y="2816512"/>
        <a:ext cx="7886700" cy="3808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139AC-881F-4192-BD9D-444A327281DD}">
      <dsp:nvSpPr>
        <dsp:cNvPr id="0" name=""/>
        <dsp:cNvSpPr/>
      </dsp:nvSpPr>
      <dsp:spPr>
        <a:xfrm>
          <a:off x="0" y="1748"/>
          <a:ext cx="8779748" cy="8861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D90C51-473B-42DD-B246-D89F4FD5587D}">
      <dsp:nvSpPr>
        <dsp:cNvPr id="0" name=""/>
        <dsp:cNvSpPr/>
      </dsp:nvSpPr>
      <dsp:spPr>
        <a:xfrm>
          <a:off x="268064" y="201135"/>
          <a:ext cx="487389" cy="4873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7B8FE-0EAB-4BDB-A965-FA31FC7BEA18}">
      <dsp:nvSpPr>
        <dsp:cNvPr id="0" name=""/>
        <dsp:cNvSpPr/>
      </dsp:nvSpPr>
      <dsp:spPr>
        <a:xfrm>
          <a:off x="1023518" y="1748"/>
          <a:ext cx="7756229" cy="886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786" tIns="93786" rIns="93786" bIns="9378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During the analysis, 819 orders were identified with negative profit values, representing approximately 4.9% of total orders.</a:t>
          </a:r>
        </a:p>
      </dsp:txBody>
      <dsp:txXfrm>
        <a:off x="1023518" y="1748"/>
        <a:ext cx="7756229" cy="886162"/>
      </dsp:txXfrm>
    </dsp:sp>
    <dsp:sp modelId="{AEF1562E-5287-4516-9D56-C66AC9A97A59}">
      <dsp:nvSpPr>
        <dsp:cNvPr id="0" name=""/>
        <dsp:cNvSpPr/>
      </dsp:nvSpPr>
      <dsp:spPr>
        <a:xfrm>
          <a:off x="0" y="1109452"/>
          <a:ext cx="8779748" cy="8861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F9457-710A-4551-9B46-2A60CB3AB955}">
      <dsp:nvSpPr>
        <dsp:cNvPr id="0" name=""/>
        <dsp:cNvSpPr/>
      </dsp:nvSpPr>
      <dsp:spPr>
        <a:xfrm>
          <a:off x="268064" y="1308838"/>
          <a:ext cx="487389" cy="4873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E27EFB-EA2D-4054-88EC-EDBE2420C764}">
      <dsp:nvSpPr>
        <dsp:cNvPr id="0" name=""/>
        <dsp:cNvSpPr/>
      </dsp:nvSpPr>
      <dsp:spPr>
        <a:xfrm>
          <a:off x="1023518" y="1109452"/>
          <a:ext cx="3950886" cy="886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786" tIns="93786" rIns="93786" bIns="9378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Further investigation showed that:</a:t>
          </a:r>
        </a:p>
      </dsp:txBody>
      <dsp:txXfrm>
        <a:off x="1023518" y="1109452"/>
        <a:ext cx="3950886" cy="886162"/>
      </dsp:txXfrm>
    </dsp:sp>
    <dsp:sp modelId="{8156E473-565F-4D77-9EA0-D059AD2FECA0}">
      <dsp:nvSpPr>
        <dsp:cNvPr id="0" name=""/>
        <dsp:cNvSpPr/>
      </dsp:nvSpPr>
      <dsp:spPr>
        <a:xfrm>
          <a:off x="4974404" y="1109452"/>
          <a:ext cx="3805343" cy="886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786" tIns="93786" rIns="93786" bIns="9378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30 orders had discounts 95%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Most negative-profit orders belonged to the Office Supplies</a:t>
          </a:r>
        </a:p>
      </dsp:txBody>
      <dsp:txXfrm>
        <a:off x="4974404" y="1109452"/>
        <a:ext cx="3805343" cy="886162"/>
      </dsp:txXfrm>
    </dsp:sp>
    <dsp:sp modelId="{CC7C828A-C37E-42B3-8CCC-EC08CE772B8D}">
      <dsp:nvSpPr>
        <dsp:cNvPr id="0" name=""/>
        <dsp:cNvSpPr/>
      </dsp:nvSpPr>
      <dsp:spPr>
        <a:xfrm>
          <a:off x="0" y="2217155"/>
          <a:ext cx="8779748" cy="8861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58187C-B3C3-456D-8BEB-2741CBB780C4}">
      <dsp:nvSpPr>
        <dsp:cNvPr id="0" name=""/>
        <dsp:cNvSpPr/>
      </dsp:nvSpPr>
      <dsp:spPr>
        <a:xfrm>
          <a:off x="268064" y="2416542"/>
          <a:ext cx="487389" cy="4873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B34F7-D6CB-42FA-A044-3810835E09AA}">
      <dsp:nvSpPr>
        <dsp:cNvPr id="0" name=""/>
        <dsp:cNvSpPr/>
      </dsp:nvSpPr>
      <dsp:spPr>
        <a:xfrm>
          <a:off x="1023518" y="2217155"/>
          <a:ext cx="7756229" cy="886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786" tIns="93786" rIns="93786" bIns="9378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These findings suggest that despite financial losses and operational challenges in some cases, the company maintained an almost equal fulfillment performance for negative-profit orders compared to the overall dataset.</a:t>
          </a:r>
        </a:p>
      </dsp:txBody>
      <dsp:txXfrm>
        <a:off x="1023518" y="2217155"/>
        <a:ext cx="7756229" cy="886162"/>
      </dsp:txXfrm>
    </dsp:sp>
    <dsp:sp modelId="{16967037-F0BF-4439-9F87-076B08423301}">
      <dsp:nvSpPr>
        <dsp:cNvPr id="0" name=""/>
        <dsp:cNvSpPr/>
      </dsp:nvSpPr>
      <dsp:spPr>
        <a:xfrm>
          <a:off x="0" y="3324859"/>
          <a:ext cx="8779748" cy="8861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443E6-F03C-4910-8069-E67E307A2C59}">
      <dsp:nvSpPr>
        <dsp:cNvPr id="0" name=""/>
        <dsp:cNvSpPr/>
      </dsp:nvSpPr>
      <dsp:spPr>
        <a:xfrm>
          <a:off x="268064" y="3524246"/>
          <a:ext cx="487389" cy="4873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3D784-5E1D-47A1-BDF3-229F239ADF4A}">
      <dsp:nvSpPr>
        <dsp:cNvPr id="0" name=""/>
        <dsp:cNvSpPr/>
      </dsp:nvSpPr>
      <dsp:spPr>
        <a:xfrm>
          <a:off x="1023518" y="3324859"/>
          <a:ext cx="3950886" cy="886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786" tIns="93786" rIns="93786" bIns="9378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Key Insight</a:t>
          </a:r>
          <a:endParaRPr lang="en-US" sz="1500" kern="1200"/>
        </a:p>
      </dsp:txBody>
      <dsp:txXfrm>
        <a:off x="1023518" y="3324859"/>
        <a:ext cx="3950886" cy="886162"/>
      </dsp:txXfrm>
    </dsp:sp>
    <dsp:sp modelId="{78355735-D050-49D1-888B-507DFC79DA43}">
      <dsp:nvSpPr>
        <dsp:cNvPr id="0" name=""/>
        <dsp:cNvSpPr/>
      </dsp:nvSpPr>
      <dsp:spPr>
        <a:xfrm>
          <a:off x="4974404" y="3324859"/>
          <a:ext cx="3805343" cy="886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786" tIns="93786" rIns="93786" bIns="9378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Negative profitability did not significantly reduce overall service level performance, indicating that operational fulfillment remained relatively stable despite financial losses.</a:t>
          </a:r>
        </a:p>
      </dsp:txBody>
      <dsp:txXfrm>
        <a:off x="4974404" y="3324859"/>
        <a:ext cx="3805343" cy="8861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94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F9C6-8D6C-3868-CC46-49E72D294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6CCE4-D639-19A7-C28A-55C5541B8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C9193-0CB0-7102-34FB-ACC6CB633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2AB8-FC3F-4B0D-917F-02E5B6A09660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D8BE5-45B8-217C-2C4F-AF0B6AAC1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C99E8-E20C-CFC0-AC96-4DFEE7F3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A9DC-D99E-45F5-B49F-C0BD78856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3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D0AB76-CE93-9C7F-C00D-F34211021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2AB8-FC3F-4B0D-917F-02E5B6A09660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8BCA-19C3-FB36-511F-CD106BE2A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D354D-5A6C-9A23-C533-15F46FBC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A9DC-D99E-45F5-B49F-C0BD78856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81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jpe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3.jpe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75230"/>
            <a:ext cx="857250" cy="857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" y="1445019"/>
            <a:ext cx="5000625" cy="1508727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SUPPLY CHAIN
PERFORMANCE ANALYSIS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714375" y="3096620"/>
            <a:ext cx="5000625" cy="553641"/>
          </a:xfrm>
          <a:prstGeom prst="rect">
            <a:avLst/>
          </a:prstGeom>
          <a:noFill/>
          <a:ln/>
        </p:spPr>
        <p:txBody>
          <a:bodyPr wrap="square" lIns="357251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Optimizing Service Levels &amp; Operational Excellence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1014413" y="4078886"/>
            <a:ext cx="4700588" cy="78938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3"/>
          <p:cNvSpPr/>
          <p:nvPr/>
        </p:nvSpPr>
        <p:spPr>
          <a:xfrm>
            <a:off x="1300163" y="4221761"/>
            <a:ext cx="41290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TEAM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1300163" y="4414642"/>
            <a:ext cx="4129088" cy="292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A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Dalia </a:t>
            </a:r>
            <a:r>
              <a:rPr lang="ar-EG" sz="950" dirty="0">
                <a:solidFill>
                  <a:srgbClr val="F8FA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950" dirty="0">
                <a:solidFill>
                  <a:srgbClr val="F8FA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Abu </a:t>
            </a:r>
            <a:r>
              <a:rPr lang="en-US" sz="950" dirty="0" err="1">
                <a:solidFill>
                  <a:srgbClr val="F8FA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Elmaaref</a:t>
            </a:r>
            <a:r>
              <a:rPr lang="en-US" sz="950" dirty="0">
                <a:solidFill>
                  <a:srgbClr val="F8FA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Ibrahim • Reham Ismail Radwan • Sara Abualkhair • Momen Salah • Yousef Zaky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PROJECT OVERVIEW &amp; BUSINESS CHALLENGE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71587"/>
            <a:ext cx="3643313" cy="3443287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503759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5850" y="1485900"/>
            <a:ext cx="142696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SCOPE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1871663"/>
            <a:ext cx="87511" cy="1357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80480" y="1871663"/>
            <a:ext cx="3234333" cy="80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analysis of global supply chain operations focusing on performance optimization.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425973"/>
            <a:ext cx="87511" cy="13573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8008" y="2835614"/>
            <a:ext cx="3234333" cy="45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Python for advanced data engineering and Power BI for executive-level visualization.</a:t>
            </a:r>
            <a:endParaRPr lang="en-US" sz="1200" dirty="0"/>
          </a:p>
        </p:txBody>
      </p:sp>
      <p:sp>
        <p:nvSpPr>
          <p:cNvPr id="11" name="Shape 5"/>
          <p:cNvSpPr/>
          <p:nvPr/>
        </p:nvSpPr>
        <p:spPr>
          <a:xfrm>
            <a:off x="684848" y="3629638"/>
            <a:ext cx="3340655" cy="94998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2" name="Text 6"/>
          <p:cNvSpPr/>
          <p:nvPr/>
        </p:nvSpPr>
        <p:spPr>
          <a:xfrm>
            <a:off x="882253" y="3772514"/>
            <a:ext cx="3143250" cy="690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Objective: Identify root causes and provide data-driven strategies to stabilize delivery performance.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4714875" y="1271588"/>
            <a:ext cx="3857625" cy="3498532"/>
          </a:xfrm>
          <a:prstGeom prst="rect">
            <a:avLst/>
          </a:prstGeom>
          <a:solidFill>
            <a:srgbClr val="FFFFFF"/>
          </a:solidFill>
          <a:ln w="18288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503759"/>
            <a:ext cx="171450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07794" y="1485900"/>
            <a:ext cx="173235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CORE PROBLEM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1871663"/>
            <a:ext cx="100013" cy="13573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36356" y="1871663"/>
            <a:ext cx="3221831" cy="799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Service Level Performance:</a:t>
            </a: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Consistent failure to meet regional delivery benchmarks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2425973"/>
            <a:ext cx="100013" cy="13573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57802" y="2910296"/>
            <a:ext cx="3221831" cy="80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Fill Rate Gaps:</a:t>
            </a: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Persistent inability to meet customer demand from available inventory.</a:t>
            </a:r>
            <a:endParaRPr lang="en-US" sz="14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2980283"/>
            <a:ext cx="100013" cy="135731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929188" y="3685393"/>
            <a:ext cx="3221831" cy="80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Incompleteness:</a:t>
            </a: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 frequency of partial shipments reducing overall operational efficiency.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THE TECH STACK: PYTHON &amp; POWER BI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414463"/>
            <a:ext cx="3857625" cy="3214688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2"/>
          <p:cNvSpPr/>
          <p:nvPr/>
        </p:nvSpPr>
        <p:spPr>
          <a:xfrm>
            <a:off x="857250" y="1271588"/>
            <a:ext cx="1260872" cy="192881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Text 3"/>
          <p:cNvSpPr/>
          <p:nvPr/>
        </p:nvSpPr>
        <p:spPr>
          <a:xfrm>
            <a:off x="857250" y="1271588"/>
            <a:ext cx="1260872" cy="192881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ENGINEERING</a:t>
            </a:r>
            <a:endParaRPr lang="en-US" sz="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734145"/>
            <a:ext cx="312539" cy="357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7250" y="2275284"/>
            <a:ext cx="32861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PYTHON (PANDAS)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754809"/>
            <a:ext cx="160734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60859" y="2732484"/>
            <a:ext cx="14662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Robust Data Cleaning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106638"/>
            <a:ext cx="112514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12639" y="3084314"/>
            <a:ext cx="16698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Handling Missing Values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458468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28713" y="3436144"/>
            <a:ext cx="13626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ETL Standardization</a:t>
            </a:r>
            <a:endParaRPr lang="en-US" sz="10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2703" y="2875359"/>
            <a:ext cx="178594" cy="2857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4714875" y="1414463"/>
            <a:ext cx="3857625" cy="3214688"/>
          </a:xfrm>
          <a:prstGeom prst="rect">
            <a:avLst/>
          </a:prstGeom>
          <a:solidFill>
            <a:srgbClr val="FFFFFF"/>
          </a:solidFill>
          <a:ln w="18288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9"/>
          <p:cNvSpPr/>
          <p:nvPr/>
        </p:nvSpPr>
        <p:spPr>
          <a:xfrm>
            <a:off x="5000625" y="1271588"/>
            <a:ext cx="1460897" cy="19288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8" name="Text 10"/>
          <p:cNvSpPr/>
          <p:nvPr/>
        </p:nvSpPr>
        <p:spPr>
          <a:xfrm>
            <a:off x="5000625" y="1271588"/>
            <a:ext cx="1460897" cy="192881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ANALYTICS</a:t>
            </a:r>
            <a:endParaRPr lang="en-US" sz="7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1734145"/>
            <a:ext cx="401836" cy="35718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00625" y="2275284"/>
            <a:ext cx="32861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POWER BI</a:t>
            </a:r>
            <a:endParaRPr lang="en-US" sz="14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0625" y="2754809"/>
            <a:ext cx="144661" cy="12858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88161" y="2732484"/>
            <a:ext cx="15376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Star Schema Modeling</a:t>
            </a:r>
            <a:endParaRPr lang="en-US" sz="105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3106638"/>
            <a:ext cx="96441" cy="12858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239941" y="3084314"/>
            <a:ext cx="16484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Complex DAX Measures</a:t>
            </a:r>
            <a:endParaRPr lang="en-US" sz="105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0625" y="3458468"/>
            <a:ext cx="144661" cy="12858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288161" y="3436144"/>
            <a:ext cx="15751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Interactive Dashboards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Data Cleaning with Python</a:t>
            </a:r>
            <a:br>
              <a:rPr lang="en-US" dirty="0"/>
            </a:b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280160" y="68580"/>
            <a:ext cx="1028700" cy="205740"/>
          </a:xfrm>
          <a:prstGeom prst="roundRect">
            <a:avLst/>
          </a:prstGeom>
          <a:solidFill>
            <a:srgbClr val="204A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B4F1312-8BB8-CF32-0BC3-200BB79FC4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5064628"/>
              </p:ext>
            </p:extLst>
          </p:nvPr>
        </p:nvGraphicFramePr>
        <p:xfrm>
          <a:off x="628650" y="1371600"/>
          <a:ext cx="78867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811A6-1F67-17CA-C8F1-C135EB09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60" y="2814637"/>
            <a:ext cx="2468165" cy="1839515"/>
          </a:xfrm>
        </p:spPr>
        <p:txBody>
          <a:bodyPr anchor="ctr">
            <a:normAutofit/>
          </a:bodyPr>
          <a:lstStyle/>
          <a:p>
            <a:r>
              <a:rPr lang="en-US" sz="2700"/>
              <a:t>Data Description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22D4CC-3C7A-616B-5794-72C4AA4CD1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377" b="30028"/>
          <a:stretch>
            <a:fillRect/>
          </a:stretch>
        </p:blipFill>
        <p:spPr>
          <a:xfrm>
            <a:off x="15" y="8"/>
            <a:ext cx="9143985" cy="2782952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66C13EA-EDFF-60E3-A77A-FC564A55A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6677" y="2814637"/>
            <a:ext cx="6355370" cy="1993499"/>
          </a:xfrm>
        </p:spPr>
        <p:txBody>
          <a:bodyPr anchor="ctr">
            <a:normAutofit/>
          </a:bodyPr>
          <a:lstStyle/>
          <a:p>
            <a:r>
              <a:rPr lang="en-US" sz="1350" dirty="0"/>
              <a:t>This dataset contains operational and logistics data used to analyze supply chain performance, delivery efficiency, fulfillment quality, and shipping operations.</a:t>
            </a:r>
          </a:p>
          <a:p>
            <a:pPr lvl="0"/>
            <a:endParaRPr lang="en-US" sz="1350" dirty="0"/>
          </a:p>
          <a:p>
            <a:pPr lvl="1"/>
            <a:r>
              <a:rPr lang="en-US" sz="1350" dirty="0"/>
              <a:t>My data has 16798 rows and 30 columns</a:t>
            </a:r>
          </a:p>
          <a:p>
            <a:pPr lvl="1"/>
            <a:r>
              <a:rPr lang="en-US" sz="1350" dirty="0"/>
              <a:t>Our data types  Numeric, Categorical, Date</a:t>
            </a:r>
          </a:p>
        </p:txBody>
      </p:sp>
    </p:spTree>
    <p:extLst>
      <p:ext uri="{BB962C8B-B14F-4D97-AF65-F5344CB8AC3E}">
        <p14:creationId xmlns:p14="http://schemas.microsoft.com/office/powerpoint/2010/main" val="48642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49D8-A991-9434-2E68-7E7B57DF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    Checking for outliers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85B10E-CA92-C70C-BD6A-8A265035B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558214"/>
            <a:ext cx="7886700" cy="288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25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A18D3-F1CA-E776-6C1A-F7B973B95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70" y="178905"/>
            <a:ext cx="8263890" cy="1075811"/>
          </a:xfrm>
        </p:spPr>
        <p:txBody>
          <a:bodyPr anchor="b">
            <a:normAutofit fontScale="90000"/>
          </a:bodyPr>
          <a:lstStyle/>
          <a:p>
            <a:r>
              <a:rPr lang="en-US" sz="3450" b="1"/>
              <a:t>Outlier Analysis — Days To Ship</a:t>
            </a:r>
            <a:br>
              <a:rPr lang="en-US" sz="3450" b="1"/>
            </a:br>
            <a:endParaRPr lang="en-US" sz="34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C42D0-041A-7601-5EEE-A80D25A48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70" y="1553487"/>
            <a:ext cx="6330659" cy="3411109"/>
          </a:xfrm>
        </p:spPr>
        <p:txBody>
          <a:bodyPr anchor="t">
            <a:normAutofit/>
          </a:bodyPr>
          <a:lstStyle/>
          <a:p>
            <a:r>
              <a:rPr lang="en-US" sz="1275" dirty="0"/>
              <a:t>During data exploration, several records showed unusually high shipping durations exceeding 30 days, while the average shipping time was approximately 2 days. With 6 rows</a:t>
            </a:r>
          </a:p>
          <a:p>
            <a:r>
              <a:rPr lang="en-US" sz="1275" dirty="0"/>
              <a:t>Further analysis revealed that these shipments:</a:t>
            </a:r>
          </a:p>
          <a:p>
            <a:pPr lvl="1"/>
            <a:r>
              <a:rPr lang="en-US" sz="1275" dirty="0"/>
              <a:t>Achieved the required service level </a:t>
            </a:r>
          </a:p>
          <a:p>
            <a:pPr lvl="1"/>
            <a:r>
              <a:rPr lang="en-US" sz="1275" dirty="0"/>
              <a:t>Delivered the full order quantities </a:t>
            </a:r>
          </a:p>
          <a:p>
            <a:pPr lvl="1"/>
            <a:r>
              <a:rPr lang="en-US" sz="1275" dirty="0"/>
              <a:t>Arrived within the planned due dates </a:t>
            </a:r>
          </a:p>
          <a:p>
            <a:r>
              <a:rPr lang="en-US" sz="1275" dirty="0"/>
              <a:t>This indicates that the outliers represent planned operational cases such as long-distance or low-priority shipments rather than supply chain inefficiencies.</a:t>
            </a:r>
          </a:p>
          <a:p>
            <a:r>
              <a:rPr lang="en-US" sz="1275" b="1" dirty="0"/>
              <a:t>Key Insight</a:t>
            </a:r>
          </a:p>
          <a:p>
            <a:pPr lvl="1"/>
            <a:r>
              <a:rPr lang="en-US" sz="1275" dirty="0"/>
              <a:t>High shipping duration does not necessarily indicate poor supply chain performance when fulfillment and on-time delivery targets are achieved.</a:t>
            </a:r>
          </a:p>
          <a:p>
            <a:endParaRPr lang="en-US" sz="1275" dirty="0"/>
          </a:p>
        </p:txBody>
      </p:sp>
      <p:pic>
        <p:nvPicPr>
          <p:cNvPr id="16" name="Picture 15" descr="Boxes and roller conveyor">
            <a:extLst>
              <a:ext uri="{FF2B5EF4-FFF2-40B4-BE49-F238E27FC236}">
                <a16:creationId xmlns:a16="http://schemas.microsoft.com/office/drawing/2014/main" id="{E5085851-0DB2-9F9B-E4C6-DA39CE5E22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27" r="18318"/>
          <a:stretch>
            <a:fillRect/>
          </a:stretch>
        </p:blipFill>
        <p:spPr>
          <a:xfrm>
            <a:off x="6986117" y="1635783"/>
            <a:ext cx="1726425" cy="300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33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751848-BA35-75AE-3127-5C21347AAC5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545" t="23894" r="4112" b="-1"/>
          <a:stretch>
            <a:fillRect/>
          </a:stretch>
        </p:blipFill>
        <p:spPr>
          <a:xfrm>
            <a:off x="15" y="7"/>
            <a:ext cx="9143985" cy="51434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5C9EC1-5561-9DC7-E80C-DDBBFD418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US" b="1"/>
              <a:t>Discount Outlier Analysis</a:t>
            </a:r>
            <a:br>
              <a:rPr lang="en-US" b="1"/>
            </a:b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41079D-4F11-1040-E98F-62A7FE039F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90264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5086E1-EBFC-CCFA-BC20-D2365AF286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6582" r="9091" b="6810"/>
          <a:stretch>
            <a:fillRect/>
          </a:stretch>
        </p:blipFill>
        <p:spPr>
          <a:xfrm>
            <a:off x="15" y="7"/>
            <a:ext cx="9143985" cy="51434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E19E60-DE7A-E6FC-110C-E4DD994F6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US" b="1"/>
              <a:t>Negative Profit Orders Analysis</a:t>
            </a:r>
            <a:br>
              <a:rPr lang="en-US" b="1"/>
            </a:b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335F3A-D2F6-3AED-C41C-C6C90F99EA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233" y="851598"/>
          <a:ext cx="8779748" cy="4212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06395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29188C-7553-3C00-FCBC-955C26EF1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66" y="256234"/>
            <a:ext cx="8252209" cy="463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728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DATA MODELING: THE ANALYTICS FOUNDATION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71587"/>
            <a:ext cx="2524116" cy="3443287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 dirty="0"/>
          </a:p>
        </p:txBody>
      </p:sp>
      <p:sp>
        <p:nvSpPr>
          <p:cNvPr id="5" name="Shape 2"/>
          <p:cNvSpPr/>
          <p:nvPr/>
        </p:nvSpPr>
        <p:spPr>
          <a:xfrm>
            <a:off x="785813" y="1557338"/>
            <a:ext cx="625078" cy="162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Text 3"/>
          <p:cNvSpPr/>
          <p:nvPr/>
        </p:nvSpPr>
        <p:spPr>
          <a:xfrm>
            <a:off x="785813" y="1557338"/>
            <a:ext cx="625078" cy="16252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ETL LAYER</a:t>
            </a:r>
            <a:endParaRPr lang="en-US" sz="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853803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1563" y="1871663"/>
            <a:ext cx="891183" cy="212238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POWER QUERY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748558"/>
            <a:ext cx="75009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3672" y="2298357"/>
            <a:ext cx="1934756" cy="499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shaping and type conversion.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198614"/>
            <a:ext cx="75009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46547" y="2952097"/>
            <a:ext cx="1934756" cy="42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merging of disparate data sources.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648670"/>
            <a:ext cx="75009" cy="1143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46547" y="3648670"/>
            <a:ext cx="1934756" cy="42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Creation of custom conditional columns for business logic.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3309928" y="1271588"/>
            <a:ext cx="2524116" cy="3443287"/>
          </a:xfrm>
          <a:prstGeom prst="rect">
            <a:avLst/>
          </a:prstGeom>
          <a:solidFill>
            <a:srgbClr val="FFFFFF"/>
          </a:solidFill>
          <a:ln w="18288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9"/>
          <p:cNvSpPr/>
          <p:nvPr/>
        </p:nvSpPr>
        <p:spPr>
          <a:xfrm>
            <a:off x="3524241" y="1557338"/>
            <a:ext cx="846534" cy="1625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7" name="Text 10"/>
          <p:cNvSpPr/>
          <p:nvPr/>
        </p:nvSpPr>
        <p:spPr>
          <a:xfrm>
            <a:off x="3524241" y="1557338"/>
            <a:ext cx="846534" cy="16252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</a:t>
            </a:r>
            <a:endParaRPr lang="en-US" sz="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41" y="1853803"/>
            <a:ext cx="321469" cy="2857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979448" y="1851585"/>
            <a:ext cx="1171575" cy="25360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STAR SCHEMA</a:t>
            </a:r>
            <a:endParaRPr lang="en-US" sz="1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41" y="2748558"/>
            <a:ext cx="75009" cy="1143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684975" y="2236118"/>
            <a:ext cx="1934756" cy="42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Fact tables for transactional data.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41" y="3198614"/>
            <a:ext cx="75009" cy="1143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667116" y="2763408"/>
            <a:ext cx="1934756" cy="42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Dimension tables (Region, Product, Date).</a:t>
            </a:r>
            <a:endParaRPr lang="en-US" sz="12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41" y="3648670"/>
            <a:ext cx="75009" cy="1143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3684975" y="3648670"/>
            <a:ext cx="1934756" cy="65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for high-performance analytical queries.</a:t>
            </a:r>
            <a:endParaRPr lang="en-US" sz="1200" dirty="0"/>
          </a:p>
        </p:txBody>
      </p:sp>
      <p:sp>
        <p:nvSpPr>
          <p:cNvPr id="26" name="Shape 15"/>
          <p:cNvSpPr/>
          <p:nvPr/>
        </p:nvSpPr>
        <p:spPr>
          <a:xfrm>
            <a:off x="6128723" y="1164294"/>
            <a:ext cx="2524144" cy="3511427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7" name="Shape 16"/>
          <p:cNvSpPr/>
          <p:nvPr/>
        </p:nvSpPr>
        <p:spPr>
          <a:xfrm>
            <a:off x="6262669" y="1557338"/>
            <a:ext cx="732234" cy="162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8" name="Text 17"/>
          <p:cNvSpPr/>
          <p:nvPr/>
        </p:nvSpPr>
        <p:spPr>
          <a:xfrm>
            <a:off x="6262669" y="1557338"/>
            <a:ext cx="732234" cy="16252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LOGIC LAYER</a:t>
            </a:r>
            <a:endParaRPr lang="en-US" sz="6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2669" y="1853803"/>
            <a:ext cx="321469" cy="28575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718084" y="1996678"/>
            <a:ext cx="1041202" cy="25360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MODEL VIEW</a:t>
            </a:r>
            <a:endParaRPr lang="en-US" sz="11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2669" y="2748558"/>
            <a:ext cx="75009" cy="11430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6360281" y="2400162"/>
            <a:ext cx="1934784" cy="42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One-to-many relationships for data integrity.</a:t>
            </a:r>
            <a:endParaRPr lang="en-US" sz="12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2669" y="3198614"/>
            <a:ext cx="75009" cy="11430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6424904" y="2905537"/>
            <a:ext cx="1934784" cy="42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Bi-directional filtering where required for complex analysis.</a:t>
            </a:r>
            <a:endParaRPr lang="en-US" sz="120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2669" y="3648670"/>
            <a:ext cx="75009" cy="11430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6423403" y="3648670"/>
            <a:ext cx="1934784" cy="42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hierarchies for seamless drill-down.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DEFINING SUCCESS: CORE KPIS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00150"/>
            <a:ext cx="2547919" cy="1571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Shape 2"/>
          <p:cNvSpPr/>
          <p:nvPr/>
        </p:nvSpPr>
        <p:spPr>
          <a:xfrm>
            <a:off x="571500" y="1200150"/>
            <a:ext cx="2547919" cy="142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3"/>
          <p:cNvSpPr/>
          <p:nvPr/>
        </p:nvSpPr>
        <p:spPr>
          <a:xfrm>
            <a:off x="3105131" y="1200150"/>
            <a:ext cx="14288" cy="157162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71500" y="2757488"/>
            <a:ext cx="2547919" cy="142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Shape 5"/>
          <p:cNvSpPr/>
          <p:nvPr/>
        </p:nvSpPr>
        <p:spPr>
          <a:xfrm>
            <a:off x="571500" y="1200150"/>
            <a:ext cx="57150" cy="157162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415355"/>
            <a:ext cx="214313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1563" y="1414463"/>
            <a:ext cx="128051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SERVICE LEVEL %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50094" y="1694855"/>
            <a:ext cx="2190731" cy="65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Measures the percentage of customer orders fulfilled on time and in full against total orders.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50094" y="2552105"/>
            <a:ext cx="2190731" cy="21967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SUCCESS METRIC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3298013" y="1200150"/>
            <a:ext cx="2547947" cy="1571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606" y="1415355"/>
            <a:ext cx="192881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76644" y="1414463"/>
            <a:ext cx="87510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FILL RATE %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476606" y="1694855"/>
            <a:ext cx="2190759" cy="65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Percentage of customer demand met through immediate stock availability without backorders.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476606" y="2552105"/>
            <a:ext cx="2190759" cy="21967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EFFICIENCY</a:t>
            </a:r>
            <a:endParaRPr lang="en-US" sz="650" dirty="0"/>
          </a:p>
        </p:txBody>
      </p:sp>
      <p:sp>
        <p:nvSpPr>
          <p:cNvPr id="18" name="Shape 13"/>
          <p:cNvSpPr/>
          <p:nvPr/>
        </p:nvSpPr>
        <p:spPr>
          <a:xfrm>
            <a:off x="6024553" y="1200150"/>
            <a:ext cx="2547919" cy="1571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147" y="1415355"/>
            <a:ext cx="214313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24616" y="1414463"/>
            <a:ext cx="50720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OTIF %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203147" y="1694855"/>
            <a:ext cx="2190731" cy="65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On-Time In-Full: Combined metric assessing delivery speed and order completeness.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203147" y="2552105"/>
            <a:ext cx="2190731" cy="21967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EXCELLENCE</a:t>
            </a:r>
            <a:endParaRPr lang="en-US" sz="650" dirty="0"/>
          </a:p>
        </p:txBody>
      </p:sp>
      <p:sp>
        <p:nvSpPr>
          <p:cNvPr id="23" name="Shape 17"/>
          <p:cNvSpPr/>
          <p:nvPr/>
        </p:nvSpPr>
        <p:spPr>
          <a:xfrm>
            <a:off x="571500" y="2950369"/>
            <a:ext cx="2547919" cy="1571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3165574"/>
            <a:ext cx="192881" cy="1714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0131" y="3164681"/>
            <a:ext cx="109299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750094" y="3445073"/>
            <a:ext cx="2190731" cy="65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Aggregate volume of order requests processed within the analyzed period.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50094" y="4302323"/>
            <a:ext cx="2190731" cy="21967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VOLUME BENCHMARK</a:t>
            </a:r>
            <a:endParaRPr lang="en-US" sz="650" dirty="0"/>
          </a:p>
        </p:txBody>
      </p:sp>
      <p:sp>
        <p:nvSpPr>
          <p:cNvPr id="28" name="Shape 21"/>
          <p:cNvSpPr/>
          <p:nvPr/>
        </p:nvSpPr>
        <p:spPr>
          <a:xfrm>
            <a:off x="3298013" y="2950369"/>
            <a:ext cx="2547947" cy="1571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6606" y="3165574"/>
            <a:ext cx="171450" cy="17145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755213" y="3164681"/>
            <a:ext cx="11644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ON-TIME DEL. %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3476606" y="3445073"/>
            <a:ext cx="2190759" cy="65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Percentage of orders delivered within the promised timeframe to the customer.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3476606" y="4302323"/>
            <a:ext cx="2190759" cy="21967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LOGISTICS RELIABILITY</a:t>
            </a:r>
            <a:endParaRPr lang="en-US" sz="650" dirty="0"/>
          </a:p>
        </p:txBody>
      </p:sp>
      <p:sp>
        <p:nvSpPr>
          <p:cNvPr id="33" name="Shape 25"/>
          <p:cNvSpPr/>
          <p:nvPr/>
        </p:nvSpPr>
        <p:spPr>
          <a:xfrm>
            <a:off x="6024553" y="2950369"/>
            <a:ext cx="2547919" cy="1571625"/>
          </a:xfrm>
          <a:prstGeom prst="rect">
            <a:avLst/>
          </a:prstGeom>
          <a:solidFill>
            <a:srgbClr val="FFFFFF"/>
          </a:solidFill>
          <a:ln w="18288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3147" y="3165574"/>
            <a:ext cx="128588" cy="17145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438891" y="3164681"/>
            <a:ext cx="11608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LATE ORDERS %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6203147" y="3445073"/>
            <a:ext cx="2190731" cy="65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Percentage of orders failing to meet the delivery deadline, indicating logistics friction.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6203147" y="4302323"/>
            <a:ext cx="2190731" cy="21967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INDICATOR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REGIONAL &amp; OPERATIONAL ANALYSIS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00150"/>
            <a:ext cx="4208311" cy="3669711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2"/>
          <p:cNvSpPr/>
          <p:nvPr/>
        </p:nvSpPr>
        <p:spPr>
          <a:xfrm>
            <a:off x="785813" y="1414463"/>
            <a:ext cx="2403872" cy="253603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LEVEL BY REGION (%)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810941"/>
            <a:ext cx="3750469" cy="250031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85813" y="4454128"/>
            <a:ext cx="3779686" cy="3871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Text 4"/>
          <p:cNvSpPr/>
          <p:nvPr/>
        </p:nvSpPr>
        <p:spPr>
          <a:xfrm>
            <a:off x="785813" y="4454128"/>
            <a:ext cx="3779686" cy="387158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Observation:</a:t>
            </a: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Significant performance gaps identified between top-performing North and lagging South/West regions.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5065561" y="1200150"/>
            <a:ext cx="3506939" cy="3641136"/>
          </a:xfrm>
          <a:prstGeom prst="rect">
            <a:avLst/>
          </a:prstGeom>
          <a:solidFill>
            <a:srgbClr val="FFFFFF"/>
          </a:solidFill>
          <a:ln w="18288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6"/>
          <p:cNvSpPr/>
          <p:nvPr/>
        </p:nvSpPr>
        <p:spPr>
          <a:xfrm>
            <a:off x="5279873" y="1414463"/>
            <a:ext cx="2534245" cy="253603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DEPARTMENTAL PERFORMANCE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279873" y="1882378"/>
            <a:ext cx="1412900" cy="29289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2" name="Text 8"/>
          <p:cNvSpPr/>
          <p:nvPr/>
        </p:nvSpPr>
        <p:spPr>
          <a:xfrm>
            <a:off x="5279873" y="1882378"/>
            <a:ext cx="1412900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DEPARTMENT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6692773" y="1882378"/>
            <a:ext cx="890960" cy="29289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4" name="Text 10"/>
          <p:cNvSpPr/>
          <p:nvPr/>
        </p:nvSpPr>
        <p:spPr>
          <a:xfrm>
            <a:off x="6692773" y="1882378"/>
            <a:ext cx="890960" cy="29289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FILL RATE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7583732" y="1882378"/>
            <a:ext cx="774455" cy="29289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Text 12"/>
          <p:cNvSpPr/>
          <p:nvPr/>
        </p:nvSpPr>
        <p:spPr>
          <a:xfrm>
            <a:off x="7583732" y="1882378"/>
            <a:ext cx="774455" cy="29289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STATUS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5279873" y="2175272"/>
            <a:ext cx="1412900" cy="31253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Electronics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692773" y="2175272"/>
            <a:ext cx="890960" cy="31253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92%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583732" y="2175272"/>
            <a:ext cx="774455" cy="31253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Stable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279873" y="2487811"/>
            <a:ext cx="1412900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Apparel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692773" y="2487811"/>
            <a:ext cx="890960" cy="31611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74%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7583732" y="2487811"/>
            <a:ext cx="774455" cy="31611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279873" y="2803922"/>
            <a:ext cx="1412900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&amp; Kitchen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692773" y="2803922"/>
            <a:ext cx="890960" cy="31611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81%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583732" y="2803922"/>
            <a:ext cx="774455" cy="31611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 Risk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279873" y="3120033"/>
            <a:ext cx="1412900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Automotive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692773" y="3120033"/>
            <a:ext cx="890960" cy="31611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88%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583732" y="3120033"/>
            <a:ext cx="774455" cy="31611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Stable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279873" y="3436144"/>
            <a:ext cx="1412900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Toys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6692773" y="3436144"/>
            <a:ext cx="890960" cy="31611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68%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7583732" y="3436144"/>
            <a:ext cx="774455" cy="31611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5279873" y="3898702"/>
            <a:ext cx="3078314" cy="38715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3" name="Text 29"/>
          <p:cNvSpPr/>
          <p:nvPr/>
        </p:nvSpPr>
        <p:spPr>
          <a:xfrm>
            <a:off x="5279873" y="3898702"/>
            <a:ext cx="3078314" cy="387158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Root Cause:</a:t>
            </a: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Apparel and Toys departments are primary drivers of regional service level failures.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ROOT CAUSE ANALYSIS: FULFILLMENT GAPS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00150"/>
            <a:ext cx="4629150" cy="3429000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2"/>
          <p:cNvSpPr/>
          <p:nvPr/>
        </p:nvSpPr>
        <p:spPr>
          <a:xfrm>
            <a:off x="785813" y="1414463"/>
            <a:ext cx="4200525" cy="17323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CORRELATION: FILL RATE VS. SERVICE LEVEL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730573"/>
            <a:ext cx="4171950" cy="250031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85813" y="4338042"/>
            <a:ext cx="2102048" cy="1768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Text 4"/>
          <p:cNvSpPr/>
          <p:nvPr/>
        </p:nvSpPr>
        <p:spPr>
          <a:xfrm>
            <a:off x="785813" y="4338042"/>
            <a:ext cx="2102048" cy="176808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POSITIVE CORRELATION (R² = 0.89)</a:t>
            </a:r>
            <a:endParaRPr lang="en-US" sz="600" dirty="0"/>
          </a:p>
        </p:txBody>
      </p:sp>
      <p:sp>
        <p:nvSpPr>
          <p:cNvPr id="9" name="Shape 5"/>
          <p:cNvSpPr/>
          <p:nvPr/>
        </p:nvSpPr>
        <p:spPr>
          <a:xfrm>
            <a:off x="5486400" y="1200150"/>
            <a:ext cx="3086100" cy="1035844"/>
          </a:xfrm>
          <a:prstGeom prst="rect">
            <a:avLst/>
          </a:prstGeom>
          <a:solidFill>
            <a:srgbClr val="FFFFFF"/>
          </a:solidFill>
          <a:ln w="18288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4994" y="1356420"/>
            <a:ext cx="160734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11453" y="1343025"/>
            <a:ext cx="12447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THE FILL RATE LINK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5664994" y="1569839"/>
            <a:ext cx="272891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confirms that low Fill Rates are the primary predictor of Service Level failure across all regions.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5486400" y="2378869"/>
            <a:ext cx="3086100" cy="1035844"/>
          </a:xfrm>
          <a:prstGeom prst="rect">
            <a:avLst/>
          </a:prstGeom>
          <a:solidFill>
            <a:srgbClr val="FFFFFF"/>
          </a:solidFill>
          <a:ln w="18288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994" y="2535138"/>
            <a:ext cx="160734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11453" y="2521744"/>
            <a:ext cx="141089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INCOMPLETE ORDERS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5664994" y="2748558"/>
            <a:ext cx="272891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frequency of partial shipments drains operational efficiency and increases logistics costs.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5486400" y="3557588"/>
            <a:ext cx="3086100" cy="1035844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4994" y="3713857"/>
            <a:ext cx="96441" cy="1285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47159" y="3700463"/>
            <a:ext cx="154126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INVENTORY MISMATCH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5664994" y="3927277"/>
            <a:ext cx="272891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Misalignment between regional stock levels and actual demand patterns drives fulfillment gaps.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KEY INSIGHTS: DATA-DRIVEN FINDINGS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71588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Shape 2"/>
          <p:cNvSpPr/>
          <p:nvPr/>
        </p:nvSpPr>
        <p:spPr>
          <a:xfrm>
            <a:off x="571500" y="1271588"/>
            <a:ext cx="2524116" cy="7143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3"/>
          <p:cNvSpPr/>
          <p:nvPr/>
        </p:nvSpPr>
        <p:spPr>
          <a:xfrm>
            <a:off x="3081328" y="1271588"/>
            <a:ext cx="14288" cy="300037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71500" y="4257675"/>
            <a:ext cx="2524116" cy="142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Shape 5"/>
          <p:cNvSpPr/>
          <p:nvPr/>
        </p:nvSpPr>
        <p:spPr>
          <a:xfrm>
            <a:off x="571500" y="1271588"/>
            <a:ext cx="14288" cy="300037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Shape 6"/>
          <p:cNvSpPr/>
          <p:nvPr/>
        </p:nvSpPr>
        <p:spPr>
          <a:xfrm>
            <a:off x="785813" y="1557338"/>
            <a:ext cx="1201936" cy="1768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785813" y="1557338"/>
            <a:ext cx="1201936" cy="176808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FULFILLMENT QUALITY</a:t>
            </a:r>
            <a:endParaRPr lang="en-US" sz="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868091"/>
            <a:ext cx="357188" cy="285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5813" y="2366367"/>
            <a:ext cx="209549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FULFILLMENT OVER SPEED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85813" y="2920678"/>
            <a:ext cx="2095491" cy="1165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bottleneck is not delivery speed, but the inability to ship orders in full. </a:t>
            </a:r>
            <a:r>
              <a:rPr lang="en-US" sz="85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Incomplete orders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the single largest drain on operational efficiency and customer satisfaction.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309928" y="1271588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5" name="Shape 11"/>
          <p:cNvSpPr/>
          <p:nvPr/>
        </p:nvSpPr>
        <p:spPr>
          <a:xfrm>
            <a:off x="3309928" y="1271588"/>
            <a:ext cx="2524116" cy="7143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Shape 12"/>
          <p:cNvSpPr/>
          <p:nvPr/>
        </p:nvSpPr>
        <p:spPr>
          <a:xfrm>
            <a:off x="5819756" y="1271588"/>
            <a:ext cx="14288" cy="300037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7" name="Shape 13"/>
          <p:cNvSpPr/>
          <p:nvPr/>
        </p:nvSpPr>
        <p:spPr>
          <a:xfrm>
            <a:off x="3309928" y="4257675"/>
            <a:ext cx="2524116" cy="142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8" name="Shape 14"/>
          <p:cNvSpPr/>
          <p:nvPr/>
        </p:nvSpPr>
        <p:spPr>
          <a:xfrm>
            <a:off x="3309928" y="1271588"/>
            <a:ext cx="14288" cy="300037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9" name="Shape 15"/>
          <p:cNvSpPr/>
          <p:nvPr/>
        </p:nvSpPr>
        <p:spPr>
          <a:xfrm>
            <a:off x="3524241" y="1557338"/>
            <a:ext cx="1135856" cy="1768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0" name="Text 16"/>
          <p:cNvSpPr/>
          <p:nvPr/>
        </p:nvSpPr>
        <p:spPr>
          <a:xfrm>
            <a:off x="3524241" y="1557338"/>
            <a:ext cx="1135856" cy="176808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REGIONAL STRATEGY</a:t>
            </a:r>
            <a:endParaRPr lang="en-US" sz="6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41" y="1868091"/>
            <a:ext cx="321469" cy="2857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524241" y="2366367"/>
            <a:ext cx="209549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REGIONAL DISPARITIES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524241" y="2714960"/>
            <a:ext cx="2095491" cy="1165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reveals a 23% performance gap between top and bottom regions. Certain territories require </a:t>
            </a:r>
            <a:r>
              <a:rPr lang="en-US" sz="85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targeted inventory interventions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rather than broad logistical changes to meet baseline KPIs.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048356" y="1271588"/>
            <a:ext cx="2524144" cy="30003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5" name="Shape 20"/>
          <p:cNvSpPr/>
          <p:nvPr/>
        </p:nvSpPr>
        <p:spPr>
          <a:xfrm>
            <a:off x="6048356" y="1271588"/>
            <a:ext cx="2524144" cy="7143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6" name="Shape 21"/>
          <p:cNvSpPr/>
          <p:nvPr/>
        </p:nvSpPr>
        <p:spPr>
          <a:xfrm>
            <a:off x="8558213" y="1271588"/>
            <a:ext cx="14288" cy="300037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7" name="Shape 22"/>
          <p:cNvSpPr/>
          <p:nvPr/>
        </p:nvSpPr>
        <p:spPr>
          <a:xfrm>
            <a:off x="6048356" y="4257675"/>
            <a:ext cx="2524144" cy="142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8" name="Shape 23"/>
          <p:cNvSpPr/>
          <p:nvPr/>
        </p:nvSpPr>
        <p:spPr>
          <a:xfrm>
            <a:off x="6048356" y="1271588"/>
            <a:ext cx="14288" cy="300037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9" name="Shape 24"/>
          <p:cNvSpPr/>
          <p:nvPr/>
        </p:nvSpPr>
        <p:spPr>
          <a:xfrm>
            <a:off x="6262669" y="1557338"/>
            <a:ext cx="1287661" cy="1768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0" name="Text 25"/>
          <p:cNvSpPr/>
          <p:nvPr/>
        </p:nvSpPr>
        <p:spPr>
          <a:xfrm>
            <a:off x="6262669" y="1557338"/>
            <a:ext cx="1287661" cy="176808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METRICS</a:t>
            </a:r>
            <a:endParaRPr lang="en-US" sz="6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868091"/>
            <a:ext cx="357188" cy="28575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62669" y="2366367"/>
            <a:ext cx="209551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STABILITY VS. QUALITY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262669" y="2714960"/>
            <a:ext cx="2095519" cy="1165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Stability in delivery times often masks underlying issues in order accuracy. High on-time delivery rates are currently </a:t>
            </a:r>
            <a:r>
              <a:rPr lang="en-US" sz="85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offset by low fill rates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leading to a net-negative service level impact.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STRATEGIC RECOMMENDATIONS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00150"/>
            <a:ext cx="3893344" cy="1714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Shape 2"/>
          <p:cNvSpPr/>
          <p:nvPr/>
        </p:nvSpPr>
        <p:spPr>
          <a:xfrm>
            <a:off x="571500" y="1200150"/>
            <a:ext cx="3893344" cy="142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3"/>
          <p:cNvSpPr/>
          <p:nvPr/>
        </p:nvSpPr>
        <p:spPr>
          <a:xfrm>
            <a:off x="4450556" y="1200150"/>
            <a:ext cx="14288" cy="1714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71500" y="2900363"/>
            <a:ext cx="3893344" cy="142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Shape 5"/>
          <p:cNvSpPr/>
          <p:nvPr/>
        </p:nvSpPr>
        <p:spPr>
          <a:xfrm>
            <a:off x="571500" y="1200150"/>
            <a:ext cx="57150" cy="17145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Shape 6"/>
          <p:cNvSpPr/>
          <p:nvPr/>
        </p:nvSpPr>
        <p:spPr>
          <a:xfrm>
            <a:off x="3612952" y="1200150"/>
            <a:ext cx="851892" cy="1768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3612952" y="1200150"/>
            <a:ext cx="851892" cy="176808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PRIORITY</a:t>
            </a:r>
            <a:endParaRPr lang="en-US" sz="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414463"/>
            <a:ext cx="200025" cy="200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8713" y="1419820"/>
            <a:ext cx="185023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INVENTORY &amp; DEMAND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1757363"/>
            <a:ext cx="53578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5116" y="1757363"/>
            <a:ext cx="33254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AI-driven demand forecasting to reduce stockouts.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185988"/>
            <a:ext cx="53578" cy="114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5116" y="2185988"/>
            <a:ext cx="30200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safety stock levels based on regional volatility.</a:t>
            </a:r>
            <a:endParaRPr lang="en-US" sz="8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443163"/>
            <a:ext cx="53578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5116" y="2443163"/>
            <a:ext cx="30610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 inventory planning with seasonal demand patterns.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4679156" y="1200150"/>
            <a:ext cx="3893344" cy="1714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Shape 13"/>
          <p:cNvSpPr/>
          <p:nvPr/>
        </p:nvSpPr>
        <p:spPr>
          <a:xfrm>
            <a:off x="7745611" y="1200150"/>
            <a:ext cx="826889" cy="1768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1" name="Text 14"/>
          <p:cNvSpPr/>
          <p:nvPr/>
        </p:nvSpPr>
        <p:spPr>
          <a:xfrm>
            <a:off x="7745611" y="1200150"/>
            <a:ext cx="826889" cy="176808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</a:t>
            </a:r>
            <a:endParaRPr lang="en-US" sz="6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1414463"/>
            <a:ext cx="200025" cy="2000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36369" y="1419820"/>
            <a:ext cx="2003822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PROCESS IMPROVEMENT</a:t>
            </a:r>
            <a:endParaRPr lang="en-US" sz="11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757363"/>
            <a:ext cx="53578" cy="1143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32772" y="1757363"/>
            <a:ext cx="31236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incomplete orders through better order validation.</a:t>
            </a:r>
            <a:endParaRPr lang="en-US" sz="8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2014538"/>
            <a:ext cx="53578" cy="1143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32772" y="2014538"/>
            <a:ext cx="30682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pick-and-pack workflows across all regions.</a:t>
            </a:r>
            <a:endParaRPr lang="en-US" sz="85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2271713"/>
            <a:ext cx="53578" cy="1143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032772" y="2271713"/>
            <a:ext cx="28146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real-time order tracking for stakeholders.</a:t>
            </a:r>
            <a:endParaRPr lang="en-US" sz="850" dirty="0"/>
          </a:p>
        </p:txBody>
      </p:sp>
      <p:sp>
        <p:nvSpPr>
          <p:cNvPr id="30" name="Shape 19"/>
          <p:cNvSpPr/>
          <p:nvPr/>
        </p:nvSpPr>
        <p:spPr>
          <a:xfrm>
            <a:off x="571500" y="3128963"/>
            <a:ext cx="3893344" cy="1714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1" name="Shape 20"/>
          <p:cNvSpPr/>
          <p:nvPr/>
        </p:nvSpPr>
        <p:spPr>
          <a:xfrm>
            <a:off x="3762970" y="3128963"/>
            <a:ext cx="701873" cy="1768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2" name="Text 21"/>
          <p:cNvSpPr/>
          <p:nvPr/>
        </p:nvSpPr>
        <p:spPr>
          <a:xfrm>
            <a:off x="3762970" y="3128963"/>
            <a:ext cx="701873" cy="176808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</a:t>
            </a:r>
            <a:endParaRPr lang="en-US" sz="6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3343275"/>
            <a:ext cx="250031" cy="20002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1178719" y="3348633"/>
            <a:ext cx="185023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SUPPLIER MONITORING</a:t>
            </a:r>
            <a:endParaRPr lang="en-US" sz="11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686175"/>
            <a:ext cx="53578" cy="11430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925116" y="3686175"/>
            <a:ext cx="29539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automated supplier performance scorecards.</a:t>
            </a:r>
            <a:endParaRPr lang="en-US" sz="85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943350"/>
            <a:ext cx="53578" cy="114300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925116" y="3943350"/>
            <a:ext cx="28896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 collaboration with low-performing suppliers.</a:t>
            </a:r>
            <a:endParaRPr lang="en-US" sz="85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4200525"/>
            <a:ext cx="53578" cy="114300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925116" y="4200525"/>
            <a:ext cx="29075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Diversify supplier base for critical product categories.</a:t>
            </a:r>
            <a:endParaRPr lang="en-US" sz="850" dirty="0"/>
          </a:p>
        </p:txBody>
      </p:sp>
      <p:sp>
        <p:nvSpPr>
          <p:cNvPr id="41" name="Shape 26"/>
          <p:cNvSpPr/>
          <p:nvPr/>
        </p:nvSpPr>
        <p:spPr>
          <a:xfrm>
            <a:off x="4679156" y="3128963"/>
            <a:ext cx="3893344" cy="1714500"/>
          </a:xfrm>
          <a:prstGeom prst="rect">
            <a:avLst/>
          </a:prstGeom>
          <a:solidFill>
            <a:srgbClr val="FFFFFF"/>
          </a:solidFill>
          <a:ln w="18288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2" name="Shape 27"/>
          <p:cNvSpPr/>
          <p:nvPr/>
        </p:nvSpPr>
        <p:spPr>
          <a:xfrm>
            <a:off x="7850981" y="3128963"/>
            <a:ext cx="721519" cy="17680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3" name="Text 28"/>
          <p:cNvSpPr/>
          <p:nvPr/>
        </p:nvSpPr>
        <p:spPr>
          <a:xfrm>
            <a:off x="7850981" y="3128963"/>
            <a:ext cx="721519" cy="176808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EFFICIENCY</a:t>
            </a:r>
            <a:endParaRPr lang="en-US" sz="600" dirty="0"/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3469" y="3343275"/>
            <a:ext cx="250031" cy="200025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5286375" y="3348633"/>
            <a:ext cx="211097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WAREHOUSE OPERATIONS</a:t>
            </a:r>
            <a:endParaRPr lang="en-US" sz="1100" dirty="0"/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3686175"/>
            <a:ext cx="53578" cy="114300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5032772" y="3686175"/>
            <a:ext cx="30628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warehouse layout to reduce picking travel time.</a:t>
            </a:r>
            <a:endParaRPr lang="en-US" sz="850" dirty="0"/>
          </a:p>
        </p:txBody>
      </p:sp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3943350"/>
            <a:ext cx="53578" cy="114300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5032772" y="3943350"/>
            <a:ext cx="27217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Power BI dashboards for floor managers.</a:t>
            </a:r>
            <a:endParaRPr lang="en-US" sz="850" dirty="0"/>
          </a:p>
        </p:txBody>
      </p:sp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4200525"/>
            <a:ext cx="53578" cy="114300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5032772" y="4200525"/>
            <a:ext cx="29932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inventory cycle counting for higher accuracy.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8429625" cy="8001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CONCLUSION &amp;
THE PATH FORWARD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714375" y="1943100"/>
            <a:ext cx="4371975" cy="2571750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2"/>
          <p:cNvSpPr/>
          <p:nvPr/>
        </p:nvSpPr>
        <p:spPr>
          <a:xfrm>
            <a:off x="1000125" y="2228850"/>
            <a:ext cx="38004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PROJECT IMPACT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0125" y="2650331"/>
            <a:ext cx="38004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transitioning from reactive troubleshooting to proactive, data-driven supply chain management, we establish a foundation for long-term resilience.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000125" y="3514725"/>
            <a:ext cx="2455664" cy="5768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1178719" y="3657600"/>
            <a:ext cx="2098477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4ED8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15-20%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78719" y="3970139"/>
            <a:ext cx="209847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TARGETED SERVICE LEVEL IMPROVEMENT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5514975" y="1943100"/>
            <a:ext cx="2914650" cy="714375"/>
          </a:xfrm>
          <a:prstGeom prst="rect">
            <a:avLst/>
          </a:prstGeom>
          <a:solidFill>
            <a:srgbClr val="FFFFFF"/>
          </a:solidFill>
          <a:ln w="18288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006" y="2261890"/>
            <a:ext cx="214313" cy="2143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29350" y="2233315"/>
            <a:ext cx="169485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PHASE 1: MONITOR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229350" y="2388691"/>
            <a:ext cx="169485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KPI tracking via Power BI.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5514975" y="2871788"/>
            <a:ext cx="2914650" cy="714375"/>
          </a:xfrm>
          <a:prstGeom prst="rect">
            <a:avLst/>
          </a:prstGeom>
          <a:solidFill>
            <a:srgbClr val="FFFFFF"/>
          </a:solidFill>
          <a:ln w="18288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006" y="3190577"/>
            <a:ext cx="214313" cy="21431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29350" y="3162002"/>
            <a:ext cx="189488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PHASE 2: OPTIMIZE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229350" y="3317379"/>
            <a:ext cx="189488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&amp; warehouse synchronization.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5514975" y="3800475"/>
            <a:ext cx="2914650" cy="714375"/>
          </a:xfrm>
          <a:prstGeom prst="rect">
            <a:avLst/>
          </a:prstGeom>
          <a:solidFill>
            <a:srgbClr val="FFFFFF"/>
          </a:solidFill>
          <a:ln w="18288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006" y="4119265"/>
            <a:ext cx="214313" cy="21431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29350" y="4090690"/>
            <a:ext cx="16002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PHASE 3: SCALE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229350" y="4246066"/>
            <a:ext cx="16002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forecasting integration.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1139</Words>
  <Application>Microsoft Office PowerPoint</Application>
  <PresentationFormat>On-screen Show (16:9)</PresentationFormat>
  <Paragraphs>180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Inter</vt:lpstr>
      <vt:lpstr>Inter Black</vt:lpstr>
      <vt:lpstr>Inter Bold</vt:lpstr>
      <vt:lpstr>Inter Medium</vt:lpstr>
      <vt:lpstr>Office Theme</vt:lpstr>
      <vt:lpstr>PowerPoint Presentation</vt:lpstr>
      <vt:lpstr>PowerPoint Presentation</vt:lpstr>
      <vt:lpstr>PowerPoint Presentation</vt:lpstr>
      <vt:lpstr>Data Cleaning with Python </vt:lpstr>
      <vt:lpstr>Data Description</vt:lpstr>
      <vt:lpstr>    Checking for outliers</vt:lpstr>
      <vt:lpstr>Outlier Analysis — Days To Ship </vt:lpstr>
      <vt:lpstr>Discount Outlier Analysis </vt:lpstr>
      <vt:lpstr>Negative Profit Orders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داليا ابوالمعارف محمد ابراهيم</cp:lastModifiedBy>
  <cp:revision>3</cp:revision>
  <dcterms:created xsi:type="dcterms:W3CDTF">2026-05-17T16:20:55Z</dcterms:created>
  <dcterms:modified xsi:type="dcterms:W3CDTF">2026-05-17T16:49:06Z</dcterms:modified>
</cp:coreProperties>
</file>